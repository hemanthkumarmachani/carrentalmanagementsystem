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18288000" cy="10287000"/>
  <p:notesSz cx="6858000" cy="9144000"/>
  <p:embeddedFontLst>
    <p:embeddedFont>
      <p:font typeface="Raleway" charset="1" panose="00000000000000000000"/>
      <p:regular r:id="rId17"/>
    </p:embeddedFont>
    <p:embeddedFont>
      <p:font typeface="Roboto Bold" charset="1" panose="02000000000000000000"/>
      <p:regular r:id="rId18"/>
    </p:embeddedFont>
    <p:embeddedFont>
      <p:font typeface="Roboto" charset="1" panose="02000000000000000000"/>
      <p:regular r:id="rId19"/>
    </p:embeddedFont>
    <p:embeddedFont>
      <p:font typeface="Raleway Light" charset="1" panose="00000000000000000000"/>
      <p:regular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png" Type="http://schemas.openxmlformats.org/officeDocument/2006/relationships/image"/><Relationship Id="rId4" Target="../media/image5.png" Type="http://schemas.openxmlformats.org/officeDocument/2006/relationships/image"/><Relationship Id="rId5" Target="../media/image6.png" Type="http://schemas.openxmlformats.org/officeDocument/2006/relationships/image"/><Relationship Id="rId6" Target="../media/image7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6.png" Type="http://schemas.openxmlformats.org/officeDocument/2006/relationships/image"/><Relationship Id="rId11" Target="../media/image17.svg" Type="http://schemas.openxmlformats.org/officeDocument/2006/relationships/image"/><Relationship Id="rId2" Target="../media/image8.png" Type="http://schemas.openxmlformats.org/officeDocument/2006/relationships/image"/><Relationship Id="rId3" Target="../media/image9.png" Type="http://schemas.openxmlformats.org/officeDocument/2006/relationships/image"/><Relationship Id="rId4" Target="../media/image10.png" Type="http://schemas.openxmlformats.org/officeDocument/2006/relationships/image"/><Relationship Id="rId5" Target="../media/image11.svg" Type="http://schemas.openxmlformats.org/officeDocument/2006/relationships/image"/><Relationship Id="rId6" Target="../media/image12.png" Type="http://schemas.openxmlformats.org/officeDocument/2006/relationships/image"/><Relationship Id="rId7" Target="../media/image13.svg" Type="http://schemas.openxmlformats.org/officeDocument/2006/relationships/image"/><Relationship Id="rId8" Target="../media/image14.png" Type="http://schemas.openxmlformats.org/officeDocument/2006/relationships/image"/><Relationship Id="rId9" Target="../media/image15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6.svg" Type="http://schemas.openxmlformats.org/officeDocument/2006/relationships/image"/><Relationship Id="rId11" Target="../media/image27.png" Type="http://schemas.openxmlformats.org/officeDocument/2006/relationships/image"/><Relationship Id="rId12" Target="../media/image28.png" Type="http://schemas.openxmlformats.org/officeDocument/2006/relationships/image"/><Relationship Id="rId13" Target="../media/image29.svg" Type="http://schemas.openxmlformats.org/officeDocument/2006/relationships/image"/><Relationship Id="rId14" Target="../media/image30.png" Type="http://schemas.openxmlformats.org/officeDocument/2006/relationships/image"/><Relationship Id="rId2" Target="../media/image18.png" Type="http://schemas.openxmlformats.org/officeDocument/2006/relationships/image"/><Relationship Id="rId3" Target="../media/image19.png" Type="http://schemas.openxmlformats.org/officeDocument/2006/relationships/image"/><Relationship Id="rId4" Target="../media/image20.svg" Type="http://schemas.openxmlformats.org/officeDocument/2006/relationships/image"/><Relationship Id="rId5" Target="../media/image21.png" Type="http://schemas.openxmlformats.org/officeDocument/2006/relationships/image"/><Relationship Id="rId6" Target="../media/image22.png" Type="http://schemas.openxmlformats.org/officeDocument/2006/relationships/image"/><Relationship Id="rId7" Target="../media/image23.svg" Type="http://schemas.openxmlformats.org/officeDocument/2006/relationships/image"/><Relationship Id="rId8" Target="../media/image24.png" Type="http://schemas.openxmlformats.org/officeDocument/2006/relationships/image"/><Relationship Id="rId9" Target="../media/image25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CECF3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6" id="6"/>
          <p:cNvGrpSpPr/>
          <p:nvPr/>
        </p:nvGrpSpPr>
        <p:grpSpPr>
          <a:xfrm rot="0">
            <a:off x="11430000" y="0"/>
            <a:ext cx="6858000" cy="10287000"/>
            <a:chOff x="0" y="0"/>
            <a:chExt cx="9144000" cy="13716000"/>
          </a:xfrm>
        </p:grpSpPr>
        <p:sp>
          <p:nvSpPr>
            <p:cNvPr name="Freeform 7" id="7" descr="preencoded.png"/>
            <p:cNvSpPr/>
            <p:nvPr/>
          </p:nvSpPr>
          <p:spPr>
            <a:xfrm flipH="false" flipV="false" rot="0">
              <a:off x="0" y="0"/>
              <a:ext cx="914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11784360" y="3570238"/>
            <a:ext cx="6149131" cy="3146375"/>
            <a:chOff x="0" y="0"/>
            <a:chExt cx="8198842" cy="4195167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8198866" cy="4195191"/>
            </a:xfrm>
            <a:custGeom>
              <a:avLst/>
              <a:gdLst/>
              <a:ahLst/>
              <a:cxnLst/>
              <a:rect r="r" b="b" t="t" l="l"/>
              <a:pathLst>
                <a:path h="4195191" w="8198866">
                  <a:moveTo>
                    <a:pt x="0" y="0"/>
                  </a:moveTo>
                  <a:lnTo>
                    <a:pt x="8198866" y="0"/>
                  </a:lnTo>
                  <a:lnTo>
                    <a:pt x="8198866" y="4195191"/>
                  </a:lnTo>
                  <a:lnTo>
                    <a:pt x="0" y="41951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t="0" r="0" b="0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992238" y="2671465"/>
            <a:ext cx="10213917" cy="17478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Car Rental Management System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92238" y="4556820"/>
            <a:ext cx="7458670" cy="4714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CSCI 6991 Data Engineering Capstone Project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92238" y="5358259"/>
            <a:ext cx="9445526" cy="10025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 b="true">
                <a:solidFill>
                  <a:srgbClr val="3C3939"/>
                </a:solidFill>
                <a:latin typeface="Roboto Bold"/>
                <a:ea typeface="Roboto Bold"/>
                <a:cs typeface="Roboto Bold"/>
                <a:sym typeface="Roboto Bold"/>
              </a:rPr>
              <a:t>Advisor:</a:t>
            </a: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 Dr. Robert Gilliland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92237" y="5997957"/>
            <a:ext cx="9445526" cy="871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187" b="true">
                <a:solidFill>
                  <a:srgbClr val="3C3939"/>
                </a:solidFill>
                <a:latin typeface="Roboto Bold"/>
                <a:ea typeface="Roboto Bold"/>
                <a:cs typeface="Roboto Bold"/>
                <a:sym typeface="Roboto Bold"/>
              </a:rPr>
              <a:t>Student:</a:t>
            </a: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 Hemanth Kumar Machani - Y00886464</a:t>
            </a:r>
          </a:p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Youngstown State University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CECF3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6" id="6"/>
          <p:cNvSpPr txBox="true"/>
          <p:nvPr/>
        </p:nvSpPr>
        <p:spPr>
          <a:xfrm rot="0">
            <a:off x="992238" y="2067222"/>
            <a:ext cx="7088237" cy="9145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Project Overview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92238" y="3661916"/>
            <a:ext cx="4252912" cy="5601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25"/>
              </a:lnSpc>
            </a:pPr>
            <a:r>
              <a:rPr lang="en-US" sz="3312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What We Built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92238" y="4410372"/>
            <a:ext cx="7805886" cy="1456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A comprehensive, standalone Car Rental Management System designed to streamline vehicle rental operations for both customers and administrators.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92238" y="6026349"/>
            <a:ext cx="7805886" cy="190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The platform automates critical workflows including real-time vehicle availability searches, seamless booking processes, automated billing calculations, and comprehensive vehicle fleet management.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499401" y="3661916"/>
            <a:ext cx="4622899" cy="5601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25"/>
              </a:lnSpc>
            </a:pPr>
            <a:r>
              <a:rPr lang="en-US" sz="3312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Technology Foundation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499401" y="4410372"/>
            <a:ext cx="7805886" cy="5488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29902" indent="-164951" lvl="1">
              <a:lnSpc>
                <a:spcPts val="3562"/>
              </a:lnSpc>
              <a:buFont typeface="Arial"/>
              <a:buChar char="•"/>
            </a:pPr>
            <a:r>
              <a:rPr lang="en-US" b="true" sz="2187">
                <a:solidFill>
                  <a:srgbClr val="3C3939"/>
                </a:solidFill>
                <a:latin typeface="Roboto Bold"/>
                <a:ea typeface="Roboto Bold"/>
                <a:cs typeface="Roboto Bold"/>
                <a:sym typeface="Roboto Bold"/>
              </a:rPr>
              <a:t>Backend:</a:t>
            </a: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 Java 17 with Spring Boot framework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499401" y="4963120"/>
            <a:ext cx="7805886" cy="5488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29902" indent="-164951" lvl="1">
              <a:lnSpc>
                <a:spcPts val="3562"/>
              </a:lnSpc>
              <a:buFont typeface="Arial"/>
              <a:buChar char="•"/>
            </a:pPr>
            <a:r>
              <a:rPr lang="en-US" b="true" sz="2187">
                <a:solidFill>
                  <a:srgbClr val="3C3939"/>
                </a:solidFill>
                <a:latin typeface="Roboto Bold"/>
                <a:ea typeface="Roboto Bold"/>
                <a:cs typeface="Roboto Bold"/>
                <a:sym typeface="Roboto Bold"/>
              </a:rPr>
              <a:t>Frontend:</a:t>
            </a: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 JavaFX for rich desktop UI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499401" y="5515868"/>
            <a:ext cx="7805886" cy="5488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29902" indent="-164951" lvl="1">
              <a:lnSpc>
                <a:spcPts val="3562"/>
              </a:lnSpc>
              <a:buFont typeface="Arial"/>
              <a:buChar char="•"/>
            </a:pPr>
            <a:r>
              <a:rPr lang="en-US" b="true" sz="2187">
                <a:solidFill>
                  <a:srgbClr val="3C3939"/>
                </a:solidFill>
                <a:latin typeface="Roboto Bold"/>
                <a:ea typeface="Roboto Bold"/>
                <a:cs typeface="Roboto Bold"/>
                <a:sym typeface="Roboto Bold"/>
              </a:rPr>
              <a:t>Database:</a:t>
            </a: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 MySQL with optimized schema design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499401" y="6068616"/>
            <a:ext cx="7805886" cy="5488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29902" indent="-164951" lvl="1">
              <a:lnSpc>
                <a:spcPts val="3562"/>
              </a:lnSpc>
              <a:buFont typeface="Arial"/>
              <a:buChar char="•"/>
            </a:pPr>
            <a:r>
              <a:rPr lang="en-US" b="true" sz="2187">
                <a:solidFill>
                  <a:srgbClr val="3C3939"/>
                </a:solidFill>
                <a:latin typeface="Roboto Bold"/>
                <a:ea typeface="Roboto Bold"/>
                <a:cs typeface="Roboto Bold"/>
                <a:sym typeface="Roboto Bold"/>
              </a:rPr>
              <a:t>Architecture:</a:t>
            </a: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 MVC pattern with REST services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CECF3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6" id="6"/>
          <p:cNvSpPr txBox="true"/>
          <p:nvPr/>
        </p:nvSpPr>
        <p:spPr>
          <a:xfrm rot="0">
            <a:off x="992238" y="2339429"/>
            <a:ext cx="8213377" cy="9145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Background &amp; Motivation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987475" y="3674417"/>
            <a:ext cx="5254973" cy="3023146"/>
            <a:chOff x="0" y="0"/>
            <a:chExt cx="7006630" cy="403086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6350" y="6350"/>
              <a:ext cx="6993890" cy="4018153"/>
            </a:xfrm>
            <a:custGeom>
              <a:avLst/>
              <a:gdLst/>
              <a:ahLst/>
              <a:cxnLst/>
              <a:rect r="r" b="b" t="t" l="l"/>
              <a:pathLst>
                <a:path h="4018153" w="6993890">
                  <a:moveTo>
                    <a:pt x="0" y="158750"/>
                  </a:moveTo>
                  <a:cubicBezTo>
                    <a:pt x="0" y="71120"/>
                    <a:pt x="71247" y="0"/>
                    <a:pt x="159004" y="0"/>
                  </a:cubicBezTo>
                  <a:lnTo>
                    <a:pt x="6834886" y="0"/>
                  </a:lnTo>
                  <a:cubicBezTo>
                    <a:pt x="6922770" y="0"/>
                    <a:pt x="6993890" y="71120"/>
                    <a:pt x="6993890" y="158750"/>
                  </a:cubicBezTo>
                  <a:lnTo>
                    <a:pt x="6993890" y="3859403"/>
                  </a:lnTo>
                  <a:cubicBezTo>
                    <a:pt x="6993890" y="3947160"/>
                    <a:pt x="6922643" y="4018153"/>
                    <a:pt x="6834886" y="4018153"/>
                  </a:cubicBezTo>
                  <a:lnTo>
                    <a:pt x="159004" y="4018153"/>
                  </a:lnTo>
                  <a:cubicBezTo>
                    <a:pt x="71247" y="4018153"/>
                    <a:pt x="0" y="3947033"/>
                    <a:pt x="0" y="3859403"/>
                  </a:cubicBezTo>
                  <a:close/>
                </a:path>
              </a:pathLst>
            </a:custGeom>
            <a:solidFill>
              <a:srgbClr val="E1E1EA"/>
            </a:solidFill>
            <a:ln w="12700">
              <a:solidFill>
                <a:srgbClr val="000000"/>
              </a:solidFill>
            </a:ln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7006590" cy="4030853"/>
            </a:xfrm>
            <a:custGeom>
              <a:avLst/>
              <a:gdLst/>
              <a:ahLst/>
              <a:cxnLst/>
              <a:rect r="r" b="b" t="t" l="l"/>
              <a:pathLst>
                <a:path h="4030853" w="7006590">
                  <a:moveTo>
                    <a:pt x="0" y="165100"/>
                  </a:moveTo>
                  <a:cubicBezTo>
                    <a:pt x="0" y="73914"/>
                    <a:pt x="74041" y="0"/>
                    <a:pt x="165354" y="0"/>
                  </a:cubicBezTo>
                  <a:lnTo>
                    <a:pt x="6841236" y="0"/>
                  </a:lnTo>
                  <a:lnTo>
                    <a:pt x="6841236" y="6350"/>
                  </a:lnTo>
                  <a:lnTo>
                    <a:pt x="6841236" y="0"/>
                  </a:lnTo>
                  <a:cubicBezTo>
                    <a:pt x="6932549" y="0"/>
                    <a:pt x="7006590" y="73914"/>
                    <a:pt x="7006590" y="165100"/>
                  </a:cubicBezTo>
                  <a:lnTo>
                    <a:pt x="7000240" y="165100"/>
                  </a:lnTo>
                  <a:lnTo>
                    <a:pt x="7006590" y="165100"/>
                  </a:lnTo>
                  <a:lnTo>
                    <a:pt x="7006590" y="3865753"/>
                  </a:lnTo>
                  <a:lnTo>
                    <a:pt x="7000240" y="3865753"/>
                  </a:lnTo>
                  <a:lnTo>
                    <a:pt x="7006590" y="3865753"/>
                  </a:lnTo>
                  <a:cubicBezTo>
                    <a:pt x="7006590" y="3956939"/>
                    <a:pt x="6932549" y="4030853"/>
                    <a:pt x="6841236" y="4030853"/>
                  </a:cubicBezTo>
                  <a:lnTo>
                    <a:pt x="6841236" y="4024503"/>
                  </a:lnTo>
                  <a:lnTo>
                    <a:pt x="6841236" y="4030853"/>
                  </a:lnTo>
                  <a:lnTo>
                    <a:pt x="165354" y="4030853"/>
                  </a:lnTo>
                  <a:lnTo>
                    <a:pt x="165354" y="4024503"/>
                  </a:lnTo>
                  <a:lnTo>
                    <a:pt x="165354" y="4030853"/>
                  </a:lnTo>
                  <a:cubicBezTo>
                    <a:pt x="74041" y="4030853"/>
                    <a:pt x="0" y="3956939"/>
                    <a:pt x="0" y="3865753"/>
                  </a:cubicBezTo>
                  <a:lnTo>
                    <a:pt x="0" y="165100"/>
                  </a:lnTo>
                  <a:lnTo>
                    <a:pt x="6350" y="165100"/>
                  </a:lnTo>
                  <a:lnTo>
                    <a:pt x="0" y="165100"/>
                  </a:lnTo>
                  <a:moveTo>
                    <a:pt x="12700" y="165100"/>
                  </a:moveTo>
                  <a:lnTo>
                    <a:pt x="12700" y="3865753"/>
                  </a:lnTo>
                  <a:lnTo>
                    <a:pt x="6350" y="3865753"/>
                  </a:lnTo>
                  <a:lnTo>
                    <a:pt x="12700" y="3865753"/>
                  </a:lnTo>
                  <a:cubicBezTo>
                    <a:pt x="12700" y="3949954"/>
                    <a:pt x="81026" y="4018153"/>
                    <a:pt x="165354" y="4018153"/>
                  </a:cubicBezTo>
                  <a:lnTo>
                    <a:pt x="6841236" y="4018153"/>
                  </a:lnTo>
                  <a:cubicBezTo>
                    <a:pt x="6925564" y="4018153"/>
                    <a:pt x="6993890" y="3949954"/>
                    <a:pt x="6993890" y="3865753"/>
                  </a:cubicBezTo>
                  <a:lnTo>
                    <a:pt x="6993890" y="165100"/>
                  </a:lnTo>
                  <a:cubicBezTo>
                    <a:pt x="6993890" y="80899"/>
                    <a:pt x="6925564" y="12700"/>
                    <a:pt x="6841236" y="12700"/>
                  </a:cubicBezTo>
                  <a:lnTo>
                    <a:pt x="165354" y="12700"/>
                  </a:lnTo>
                  <a:lnTo>
                    <a:pt x="165354" y="6350"/>
                  </a:lnTo>
                  <a:lnTo>
                    <a:pt x="165354" y="12700"/>
                  </a:lnTo>
                  <a:cubicBezTo>
                    <a:pt x="81026" y="12700"/>
                    <a:pt x="12700" y="80899"/>
                    <a:pt x="12700" y="165100"/>
                  </a:cubicBezTo>
                  <a:close/>
                </a:path>
              </a:pathLst>
            </a:custGeom>
            <a:solidFill>
              <a:srgbClr val="C7C7D0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10" id="10"/>
          <p:cNvSpPr txBox="true"/>
          <p:nvPr/>
        </p:nvSpPr>
        <p:spPr>
          <a:xfrm rot="0">
            <a:off x="1285280" y="3943647"/>
            <a:ext cx="3544044" cy="4714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Manual Limitations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285280" y="4489996"/>
            <a:ext cx="4659362" cy="190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Traditional car rental services rely heavily on manual record-keeping, leading to inefficiencies and operational bottlenecks.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516440" y="3674417"/>
            <a:ext cx="5254973" cy="3023146"/>
            <a:chOff x="0" y="0"/>
            <a:chExt cx="7006630" cy="4030862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6350" y="6350"/>
              <a:ext cx="6993890" cy="4018153"/>
            </a:xfrm>
            <a:custGeom>
              <a:avLst/>
              <a:gdLst/>
              <a:ahLst/>
              <a:cxnLst/>
              <a:rect r="r" b="b" t="t" l="l"/>
              <a:pathLst>
                <a:path h="4018153" w="6993890">
                  <a:moveTo>
                    <a:pt x="0" y="158750"/>
                  </a:moveTo>
                  <a:cubicBezTo>
                    <a:pt x="0" y="71120"/>
                    <a:pt x="71247" y="0"/>
                    <a:pt x="159004" y="0"/>
                  </a:cubicBezTo>
                  <a:lnTo>
                    <a:pt x="6834886" y="0"/>
                  </a:lnTo>
                  <a:cubicBezTo>
                    <a:pt x="6922770" y="0"/>
                    <a:pt x="6993890" y="71120"/>
                    <a:pt x="6993890" y="158750"/>
                  </a:cubicBezTo>
                  <a:lnTo>
                    <a:pt x="6993890" y="3859403"/>
                  </a:lnTo>
                  <a:cubicBezTo>
                    <a:pt x="6993890" y="3947160"/>
                    <a:pt x="6922643" y="4018153"/>
                    <a:pt x="6834886" y="4018153"/>
                  </a:cubicBezTo>
                  <a:lnTo>
                    <a:pt x="159004" y="4018153"/>
                  </a:lnTo>
                  <a:cubicBezTo>
                    <a:pt x="71247" y="4018153"/>
                    <a:pt x="0" y="3947033"/>
                    <a:pt x="0" y="3859403"/>
                  </a:cubicBezTo>
                  <a:close/>
                </a:path>
              </a:pathLst>
            </a:custGeom>
            <a:solidFill>
              <a:srgbClr val="E1E1EA"/>
            </a:solidFill>
            <a:ln w="12700">
              <a:solidFill>
                <a:srgbClr val="000000"/>
              </a:solidFill>
            </a:ln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7006590" cy="4030853"/>
            </a:xfrm>
            <a:custGeom>
              <a:avLst/>
              <a:gdLst/>
              <a:ahLst/>
              <a:cxnLst/>
              <a:rect r="r" b="b" t="t" l="l"/>
              <a:pathLst>
                <a:path h="4030853" w="7006590">
                  <a:moveTo>
                    <a:pt x="0" y="165100"/>
                  </a:moveTo>
                  <a:cubicBezTo>
                    <a:pt x="0" y="73914"/>
                    <a:pt x="74041" y="0"/>
                    <a:pt x="165354" y="0"/>
                  </a:cubicBezTo>
                  <a:lnTo>
                    <a:pt x="6841236" y="0"/>
                  </a:lnTo>
                  <a:lnTo>
                    <a:pt x="6841236" y="6350"/>
                  </a:lnTo>
                  <a:lnTo>
                    <a:pt x="6841236" y="0"/>
                  </a:lnTo>
                  <a:cubicBezTo>
                    <a:pt x="6932549" y="0"/>
                    <a:pt x="7006590" y="73914"/>
                    <a:pt x="7006590" y="165100"/>
                  </a:cubicBezTo>
                  <a:lnTo>
                    <a:pt x="7000240" y="165100"/>
                  </a:lnTo>
                  <a:lnTo>
                    <a:pt x="7006590" y="165100"/>
                  </a:lnTo>
                  <a:lnTo>
                    <a:pt x="7006590" y="3865753"/>
                  </a:lnTo>
                  <a:lnTo>
                    <a:pt x="7000240" y="3865753"/>
                  </a:lnTo>
                  <a:lnTo>
                    <a:pt x="7006590" y="3865753"/>
                  </a:lnTo>
                  <a:cubicBezTo>
                    <a:pt x="7006590" y="3956939"/>
                    <a:pt x="6932549" y="4030853"/>
                    <a:pt x="6841236" y="4030853"/>
                  </a:cubicBezTo>
                  <a:lnTo>
                    <a:pt x="6841236" y="4024503"/>
                  </a:lnTo>
                  <a:lnTo>
                    <a:pt x="6841236" y="4030853"/>
                  </a:lnTo>
                  <a:lnTo>
                    <a:pt x="165354" y="4030853"/>
                  </a:lnTo>
                  <a:lnTo>
                    <a:pt x="165354" y="4024503"/>
                  </a:lnTo>
                  <a:lnTo>
                    <a:pt x="165354" y="4030853"/>
                  </a:lnTo>
                  <a:cubicBezTo>
                    <a:pt x="74041" y="4030853"/>
                    <a:pt x="0" y="3956939"/>
                    <a:pt x="0" y="3865753"/>
                  </a:cubicBezTo>
                  <a:lnTo>
                    <a:pt x="0" y="165100"/>
                  </a:lnTo>
                  <a:lnTo>
                    <a:pt x="6350" y="165100"/>
                  </a:lnTo>
                  <a:lnTo>
                    <a:pt x="0" y="165100"/>
                  </a:lnTo>
                  <a:moveTo>
                    <a:pt x="12700" y="165100"/>
                  </a:moveTo>
                  <a:lnTo>
                    <a:pt x="12700" y="3865753"/>
                  </a:lnTo>
                  <a:lnTo>
                    <a:pt x="6350" y="3865753"/>
                  </a:lnTo>
                  <a:lnTo>
                    <a:pt x="12700" y="3865753"/>
                  </a:lnTo>
                  <a:cubicBezTo>
                    <a:pt x="12700" y="3949954"/>
                    <a:pt x="81026" y="4018153"/>
                    <a:pt x="165354" y="4018153"/>
                  </a:cubicBezTo>
                  <a:lnTo>
                    <a:pt x="6841236" y="4018153"/>
                  </a:lnTo>
                  <a:cubicBezTo>
                    <a:pt x="6925564" y="4018153"/>
                    <a:pt x="6993890" y="3949954"/>
                    <a:pt x="6993890" y="3865753"/>
                  </a:cubicBezTo>
                  <a:lnTo>
                    <a:pt x="6993890" y="165100"/>
                  </a:lnTo>
                  <a:cubicBezTo>
                    <a:pt x="6993890" y="80899"/>
                    <a:pt x="6925564" y="12700"/>
                    <a:pt x="6841236" y="12700"/>
                  </a:cubicBezTo>
                  <a:lnTo>
                    <a:pt x="165354" y="12700"/>
                  </a:lnTo>
                  <a:lnTo>
                    <a:pt x="165354" y="6350"/>
                  </a:lnTo>
                  <a:lnTo>
                    <a:pt x="165354" y="12700"/>
                  </a:lnTo>
                  <a:cubicBezTo>
                    <a:pt x="81026" y="12700"/>
                    <a:pt x="12700" y="80899"/>
                    <a:pt x="12700" y="165100"/>
                  </a:cubicBezTo>
                  <a:close/>
                </a:path>
              </a:pathLst>
            </a:custGeom>
            <a:solidFill>
              <a:srgbClr val="C7C7D0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15" id="15"/>
          <p:cNvSpPr txBox="true"/>
          <p:nvPr/>
        </p:nvSpPr>
        <p:spPr>
          <a:xfrm rot="0">
            <a:off x="6814245" y="3943647"/>
            <a:ext cx="3544044" cy="4714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Time &amp; Error Costs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814245" y="4489996"/>
            <a:ext cx="4659362" cy="190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Manual processes increase processing time, introduce human errors, and create significant challenges when scaling operations.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2045404" y="3674417"/>
            <a:ext cx="5254973" cy="3023146"/>
            <a:chOff x="0" y="0"/>
            <a:chExt cx="7006630" cy="403086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6350" y="6350"/>
              <a:ext cx="6993890" cy="4018153"/>
            </a:xfrm>
            <a:custGeom>
              <a:avLst/>
              <a:gdLst/>
              <a:ahLst/>
              <a:cxnLst/>
              <a:rect r="r" b="b" t="t" l="l"/>
              <a:pathLst>
                <a:path h="4018153" w="6993890">
                  <a:moveTo>
                    <a:pt x="0" y="158750"/>
                  </a:moveTo>
                  <a:cubicBezTo>
                    <a:pt x="0" y="71120"/>
                    <a:pt x="71247" y="0"/>
                    <a:pt x="159004" y="0"/>
                  </a:cubicBezTo>
                  <a:lnTo>
                    <a:pt x="6834886" y="0"/>
                  </a:lnTo>
                  <a:cubicBezTo>
                    <a:pt x="6922770" y="0"/>
                    <a:pt x="6993890" y="71120"/>
                    <a:pt x="6993890" y="158750"/>
                  </a:cubicBezTo>
                  <a:lnTo>
                    <a:pt x="6993890" y="3859403"/>
                  </a:lnTo>
                  <a:cubicBezTo>
                    <a:pt x="6993890" y="3947160"/>
                    <a:pt x="6922643" y="4018153"/>
                    <a:pt x="6834886" y="4018153"/>
                  </a:cubicBezTo>
                  <a:lnTo>
                    <a:pt x="159004" y="4018153"/>
                  </a:lnTo>
                  <a:cubicBezTo>
                    <a:pt x="71247" y="4018153"/>
                    <a:pt x="0" y="3947033"/>
                    <a:pt x="0" y="3859403"/>
                  </a:cubicBezTo>
                  <a:close/>
                </a:path>
              </a:pathLst>
            </a:custGeom>
            <a:solidFill>
              <a:srgbClr val="E1E1EA"/>
            </a:solidFill>
            <a:ln w="12700">
              <a:solidFill>
                <a:srgbClr val="000000"/>
              </a:solidFill>
            </a:ln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7006590" cy="4030853"/>
            </a:xfrm>
            <a:custGeom>
              <a:avLst/>
              <a:gdLst/>
              <a:ahLst/>
              <a:cxnLst/>
              <a:rect r="r" b="b" t="t" l="l"/>
              <a:pathLst>
                <a:path h="4030853" w="7006590">
                  <a:moveTo>
                    <a:pt x="0" y="165100"/>
                  </a:moveTo>
                  <a:cubicBezTo>
                    <a:pt x="0" y="73914"/>
                    <a:pt x="74041" y="0"/>
                    <a:pt x="165354" y="0"/>
                  </a:cubicBezTo>
                  <a:lnTo>
                    <a:pt x="6841236" y="0"/>
                  </a:lnTo>
                  <a:lnTo>
                    <a:pt x="6841236" y="6350"/>
                  </a:lnTo>
                  <a:lnTo>
                    <a:pt x="6841236" y="0"/>
                  </a:lnTo>
                  <a:cubicBezTo>
                    <a:pt x="6932549" y="0"/>
                    <a:pt x="7006590" y="73914"/>
                    <a:pt x="7006590" y="165100"/>
                  </a:cubicBezTo>
                  <a:lnTo>
                    <a:pt x="7000240" y="165100"/>
                  </a:lnTo>
                  <a:lnTo>
                    <a:pt x="7006590" y="165100"/>
                  </a:lnTo>
                  <a:lnTo>
                    <a:pt x="7006590" y="3865753"/>
                  </a:lnTo>
                  <a:lnTo>
                    <a:pt x="7000240" y="3865753"/>
                  </a:lnTo>
                  <a:lnTo>
                    <a:pt x="7006590" y="3865753"/>
                  </a:lnTo>
                  <a:cubicBezTo>
                    <a:pt x="7006590" y="3956939"/>
                    <a:pt x="6932549" y="4030853"/>
                    <a:pt x="6841236" y="4030853"/>
                  </a:cubicBezTo>
                  <a:lnTo>
                    <a:pt x="6841236" y="4024503"/>
                  </a:lnTo>
                  <a:lnTo>
                    <a:pt x="6841236" y="4030853"/>
                  </a:lnTo>
                  <a:lnTo>
                    <a:pt x="165354" y="4030853"/>
                  </a:lnTo>
                  <a:lnTo>
                    <a:pt x="165354" y="4024503"/>
                  </a:lnTo>
                  <a:lnTo>
                    <a:pt x="165354" y="4030853"/>
                  </a:lnTo>
                  <a:cubicBezTo>
                    <a:pt x="74041" y="4030853"/>
                    <a:pt x="0" y="3956939"/>
                    <a:pt x="0" y="3865753"/>
                  </a:cubicBezTo>
                  <a:lnTo>
                    <a:pt x="0" y="165100"/>
                  </a:lnTo>
                  <a:lnTo>
                    <a:pt x="6350" y="165100"/>
                  </a:lnTo>
                  <a:lnTo>
                    <a:pt x="0" y="165100"/>
                  </a:lnTo>
                  <a:moveTo>
                    <a:pt x="12700" y="165100"/>
                  </a:moveTo>
                  <a:lnTo>
                    <a:pt x="12700" y="3865753"/>
                  </a:lnTo>
                  <a:lnTo>
                    <a:pt x="6350" y="3865753"/>
                  </a:lnTo>
                  <a:lnTo>
                    <a:pt x="12700" y="3865753"/>
                  </a:lnTo>
                  <a:cubicBezTo>
                    <a:pt x="12700" y="3949954"/>
                    <a:pt x="81026" y="4018153"/>
                    <a:pt x="165354" y="4018153"/>
                  </a:cubicBezTo>
                  <a:lnTo>
                    <a:pt x="6841236" y="4018153"/>
                  </a:lnTo>
                  <a:cubicBezTo>
                    <a:pt x="6925564" y="4018153"/>
                    <a:pt x="6993890" y="3949954"/>
                    <a:pt x="6993890" y="3865753"/>
                  </a:cubicBezTo>
                  <a:lnTo>
                    <a:pt x="6993890" y="165100"/>
                  </a:lnTo>
                  <a:cubicBezTo>
                    <a:pt x="6993890" y="80899"/>
                    <a:pt x="6925564" y="12700"/>
                    <a:pt x="6841236" y="12700"/>
                  </a:cubicBezTo>
                  <a:lnTo>
                    <a:pt x="165354" y="12700"/>
                  </a:lnTo>
                  <a:lnTo>
                    <a:pt x="165354" y="6350"/>
                  </a:lnTo>
                  <a:lnTo>
                    <a:pt x="165354" y="12700"/>
                  </a:lnTo>
                  <a:cubicBezTo>
                    <a:pt x="81026" y="12700"/>
                    <a:pt x="12700" y="80899"/>
                    <a:pt x="12700" y="165100"/>
                  </a:cubicBezTo>
                  <a:close/>
                </a:path>
              </a:pathLst>
            </a:custGeom>
            <a:solidFill>
              <a:srgbClr val="C7C7D0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20" id="20"/>
          <p:cNvSpPr txBox="true"/>
          <p:nvPr/>
        </p:nvSpPr>
        <p:spPr>
          <a:xfrm rot="0">
            <a:off x="12343210" y="3943647"/>
            <a:ext cx="3559225" cy="4714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Digital Transformation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2343210" y="4489996"/>
            <a:ext cx="4659362" cy="190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Software-based automation dramatically improves operational efficiency, data accuracy, and overall user experience.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92238" y="6916490"/>
            <a:ext cx="16303526" cy="10025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Modern car rental platforms like Enterprise and Turo demonstrate the power of digital transformation in the rental industry, inspiring our system architecture and feature set.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CECF3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6" id="6"/>
          <p:cNvSpPr txBox="true"/>
          <p:nvPr/>
        </p:nvSpPr>
        <p:spPr>
          <a:xfrm rot="0">
            <a:off x="992238" y="1540817"/>
            <a:ext cx="8885932" cy="9145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The Problem We're Solving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973188" y="3003351"/>
            <a:ext cx="8048030" cy="2743944"/>
            <a:chOff x="0" y="0"/>
            <a:chExt cx="10730707" cy="365859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25400" y="25400"/>
              <a:ext cx="10679938" cy="3607816"/>
            </a:xfrm>
            <a:custGeom>
              <a:avLst/>
              <a:gdLst/>
              <a:ahLst/>
              <a:cxnLst/>
              <a:rect r="r" b="b" t="t" l="l"/>
              <a:pathLst>
                <a:path h="3607816" w="10679938">
                  <a:moveTo>
                    <a:pt x="0" y="243840"/>
                  </a:moveTo>
                  <a:cubicBezTo>
                    <a:pt x="0" y="109220"/>
                    <a:pt x="110236" y="0"/>
                    <a:pt x="246126" y="0"/>
                  </a:cubicBezTo>
                  <a:lnTo>
                    <a:pt x="10433812" y="0"/>
                  </a:lnTo>
                  <a:cubicBezTo>
                    <a:pt x="10569702" y="0"/>
                    <a:pt x="10679938" y="109220"/>
                    <a:pt x="10679938" y="243840"/>
                  </a:cubicBezTo>
                  <a:lnTo>
                    <a:pt x="10679938" y="3363976"/>
                  </a:lnTo>
                  <a:cubicBezTo>
                    <a:pt x="10679938" y="3498596"/>
                    <a:pt x="10569702" y="3607816"/>
                    <a:pt x="10433812" y="3607816"/>
                  </a:cubicBezTo>
                  <a:lnTo>
                    <a:pt x="246126" y="3607816"/>
                  </a:lnTo>
                  <a:cubicBezTo>
                    <a:pt x="110236" y="3607816"/>
                    <a:pt x="0" y="3498596"/>
                    <a:pt x="0" y="3363976"/>
                  </a:cubicBez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  <a:ln w="12700">
              <a:solidFill>
                <a:srgbClr val="000000"/>
              </a:solidFill>
            </a:ln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730738" cy="3658616"/>
            </a:xfrm>
            <a:custGeom>
              <a:avLst/>
              <a:gdLst/>
              <a:ahLst/>
              <a:cxnLst/>
              <a:rect r="r" b="b" t="t" l="l"/>
              <a:pathLst>
                <a:path h="3658616" w="10730738">
                  <a:moveTo>
                    <a:pt x="0" y="269240"/>
                  </a:moveTo>
                  <a:cubicBezTo>
                    <a:pt x="0" y="120269"/>
                    <a:pt x="121793" y="0"/>
                    <a:pt x="271526" y="0"/>
                  </a:cubicBezTo>
                  <a:lnTo>
                    <a:pt x="10459212" y="0"/>
                  </a:lnTo>
                  <a:lnTo>
                    <a:pt x="10459212" y="25400"/>
                  </a:lnTo>
                  <a:lnTo>
                    <a:pt x="10459212" y="0"/>
                  </a:lnTo>
                  <a:cubicBezTo>
                    <a:pt x="10608945" y="0"/>
                    <a:pt x="10730738" y="120269"/>
                    <a:pt x="10730738" y="269240"/>
                  </a:cubicBezTo>
                  <a:lnTo>
                    <a:pt x="10705338" y="269240"/>
                  </a:lnTo>
                  <a:lnTo>
                    <a:pt x="10730738" y="269240"/>
                  </a:lnTo>
                  <a:lnTo>
                    <a:pt x="10730738" y="3389376"/>
                  </a:lnTo>
                  <a:lnTo>
                    <a:pt x="10705338" y="3389376"/>
                  </a:lnTo>
                  <a:lnTo>
                    <a:pt x="10730738" y="3389376"/>
                  </a:lnTo>
                  <a:cubicBezTo>
                    <a:pt x="10730738" y="3538347"/>
                    <a:pt x="10608945" y="3658616"/>
                    <a:pt x="10459212" y="3658616"/>
                  </a:cubicBezTo>
                  <a:lnTo>
                    <a:pt x="10459212" y="3633216"/>
                  </a:lnTo>
                  <a:lnTo>
                    <a:pt x="10459212" y="3658616"/>
                  </a:lnTo>
                  <a:lnTo>
                    <a:pt x="271526" y="3658616"/>
                  </a:lnTo>
                  <a:lnTo>
                    <a:pt x="271526" y="3633216"/>
                  </a:lnTo>
                  <a:lnTo>
                    <a:pt x="271526" y="3658616"/>
                  </a:lnTo>
                  <a:cubicBezTo>
                    <a:pt x="121793" y="3658616"/>
                    <a:pt x="0" y="3538220"/>
                    <a:pt x="0" y="3389376"/>
                  </a:cubicBezTo>
                  <a:lnTo>
                    <a:pt x="0" y="269240"/>
                  </a:lnTo>
                  <a:lnTo>
                    <a:pt x="25400" y="269240"/>
                  </a:lnTo>
                  <a:lnTo>
                    <a:pt x="0" y="269240"/>
                  </a:lnTo>
                  <a:moveTo>
                    <a:pt x="50800" y="269240"/>
                  </a:moveTo>
                  <a:lnTo>
                    <a:pt x="50800" y="3389376"/>
                  </a:lnTo>
                  <a:lnTo>
                    <a:pt x="25400" y="3389376"/>
                  </a:lnTo>
                  <a:lnTo>
                    <a:pt x="50800" y="3389376"/>
                  </a:lnTo>
                  <a:cubicBezTo>
                    <a:pt x="50800" y="3509772"/>
                    <a:pt x="149352" y="3607816"/>
                    <a:pt x="271526" y="3607816"/>
                  </a:cubicBezTo>
                  <a:lnTo>
                    <a:pt x="10459212" y="3607816"/>
                  </a:lnTo>
                  <a:cubicBezTo>
                    <a:pt x="10581386" y="3607816"/>
                    <a:pt x="10679938" y="3509772"/>
                    <a:pt x="10679938" y="3389376"/>
                  </a:cubicBezTo>
                  <a:lnTo>
                    <a:pt x="10679938" y="269240"/>
                  </a:lnTo>
                  <a:cubicBezTo>
                    <a:pt x="10679938" y="148844"/>
                    <a:pt x="10581386" y="50800"/>
                    <a:pt x="10459212" y="50800"/>
                  </a:cubicBezTo>
                  <a:lnTo>
                    <a:pt x="271526" y="50800"/>
                  </a:lnTo>
                  <a:lnTo>
                    <a:pt x="271526" y="25400"/>
                  </a:lnTo>
                  <a:lnTo>
                    <a:pt x="271526" y="50800"/>
                  </a:lnTo>
                  <a:cubicBezTo>
                    <a:pt x="149352" y="50800"/>
                    <a:pt x="50800" y="148844"/>
                    <a:pt x="50800" y="269240"/>
                  </a:cubicBezTo>
                  <a:close/>
                </a:path>
              </a:pathLst>
            </a:custGeom>
            <a:solidFill>
              <a:srgbClr val="C7C7D0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954138" y="3022401"/>
            <a:ext cx="152400" cy="2705844"/>
            <a:chOff x="0" y="0"/>
            <a:chExt cx="203200" cy="360779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3200" cy="3607816"/>
            </a:xfrm>
            <a:custGeom>
              <a:avLst/>
              <a:gdLst/>
              <a:ahLst/>
              <a:cxnLst/>
              <a:rect r="r" b="b" t="t" l="l"/>
              <a:pathLst>
                <a:path h="3607816" w="203200">
                  <a:moveTo>
                    <a:pt x="0" y="101600"/>
                  </a:moveTo>
                  <a:cubicBezTo>
                    <a:pt x="0" y="45466"/>
                    <a:pt x="45466" y="0"/>
                    <a:pt x="101600" y="0"/>
                  </a:cubicBezTo>
                  <a:cubicBezTo>
                    <a:pt x="157734" y="0"/>
                    <a:pt x="203200" y="45466"/>
                    <a:pt x="203200" y="101600"/>
                  </a:cubicBezTo>
                  <a:lnTo>
                    <a:pt x="203200" y="3506216"/>
                  </a:lnTo>
                  <a:cubicBezTo>
                    <a:pt x="203200" y="3562350"/>
                    <a:pt x="157734" y="3607816"/>
                    <a:pt x="101600" y="3607816"/>
                  </a:cubicBezTo>
                  <a:cubicBezTo>
                    <a:pt x="45466" y="3607816"/>
                    <a:pt x="0" y="3562350"/>
                    <a:pt x="0" y="3506216"/>
                  </a:cubicBezTo>
                  <a:close/>
                </a:path>
              </a:pathLst>
            </a:custGeom>
            <a:solidFill>
              <a:srgbClr val="1B1B27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12" id="12"/>
          <p:cNvSpPr txBox="true"/>
          <p:nvPr/>
        </p:nvSpPr>
        <p:spPr>
          <a:xfrm rot="0">
            <a:off x="1428155" y="3315444"/>
            <a:ext cx="4809976" cy="5601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25"/>
              </a:lnSpc>
            </a:pPr>
            <a:r>
              <a:rPr lang="en-US" sz="3312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Disorganized Operations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428155" y="3950494"/>
            <a:ext cx="7252395" cy="1456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Without digitization, car rental procedures become chaotic and difficult to manage effectively, leading to customer dissatisfaction and lost revenue.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9266635" y="3003351"/>
            <a:ext cx="8048179" cy="2743944"/>
            <a:chOff x="0" y="0"/>
            <a:chExt cx="10730905" cy="3658592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25400" y="25400"/>
              <a:ext cx="10680192" cy="3607816"/>
            </a:xfrm>
            <a:custGeom>
              <a:avLst/>
              <a:gdLst/>
              <a:ahLst/>
              <a:cxnLst/>
              <a:rect r="r" b="b" t="t" l="l"/>
              <a:pathLst>
                <a:path h="3607816" w="10680192">
                  <a:moveTo>
                    <a:pt x="0" y="243840"/>
                  </a:moveTo>
                  <a:cubicBezTo>
                    <a:pt x="0" y="109220"/>
                    <a:pt x="110236" y="0"/>
                    <a:pt x="246126" y="0"/>
                  </a:cubicBezTo>
                  <a:lnTo>
                    <a:pt x="10434066" y="0"/>
                  </a:lnTo>
                  <a:cubicBezTo>
                    <a:pt x="10569956" y="0"/>
                    <a:pt x="10680192" y="109220"/>
                    <a:pt x="10680192" y="243840"/>
                  </a:cubicBezTo>
                  <a:lnTo>
                    <a:pt x="10680192" y="3363976"/>
                  </a:lnTo>
                  <a:cubicBezTo>
                    <a:pt x="10680192" y="3498596"/>
                    <a:pt x="10569956" y="3607816"/>
                    <a:pt x="10434066" y="3607816"/>
                  </a:cubicBezTo>
                  <a:lnTo>
                    <a:pt x="246126" y="3607816"/>
                  </a:lnTo>
                  <a:cubicBezTo>
                    <a:pt x="110236" y="3607816"/>
                    <a:pt x="0" y="3498596"/>
                    <a:pt x="0" y="3363976"/>
                  </a:cubicBez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  <a:ln w="12700">
              <a:solidFill>
                <a:srgbClr val="000000"/>
              </a:solidFill>
            </a:ln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0730992" cy="3658616"/>
            </a:xfrm>
            <a:custGeom>
              <a:avLst/>
              <a:gdLst/>
              <a:ahLst/>
              <a:cxnLst/>
              <a:rect r="r" b="b" t="t" l="l"/>
              <a:pathLst>
                <a:path h="3658616" w="10730992">
                  <a:moveTo>
                    <a:pt x="0" y="269240"/>
                  </a:moveTo>
                  <a:cubicBezTo>
                    <a:pt x="0" y="120269"/>
                    <a:pt x="121793" y="0"/>
                    <a:pt x="271526" y="0"/>
                  </a:cubicBezTo>
                  <a:lnTo>
                    <a:pt x="10459466" y="0"/>
                  </a:lnTo>
                  <a:lnTo>
                    <a:pt x="10459466" y="25400"/>
                  </a:lnTo>
                  <a:lnTo>
                    <a:pt x="10459466" y="0"/>
                  </a:lnTo>
                  <a:cubicBezTo>
                    <a:pt x="10609199" y="0"/>
                    <a:pt x="10730992" y="120269"/>
                    <a:pt x="10730992" y="269240"/>
                  </a:cubicBezTo>
                  <a:lnTo>
                    <a:pt x="10705592" y="269240"/>
                  </a:lnTo>
                  <a:lnTo>
                    <a:pt x="10730992" y="269240"/>
                  </a:lnTo>
                  <a:lnTo>
                    <a:pt x="10730992" y="3389376"/>
                  </a:lnTo>
                  <a:lnTo>
                    <a:pt x="10705592" y="3389376"/>
                  </a:lnTo>
                  <a:lnTo>
                    <a:pt x="10730992" y="3389376"/>
                  </a:lnTo>
                  <a:cubicBezTo>
                    <a:pt x="10730992" y="3538347"/>
                    <a:pt x="10609199" y="3658616"/>
                    <a:pt x="10459466" y="3658616"/>
                  </a:cubicBezTo>
                  <a:lnTo>
                    <a:pt x="10459466" y="3633216"/>
                  </a:lnTo>
                  <a:lnTo>
                    <a:pt x="10459466" y="3658616"/>
                  </a:lnTo>
                  <a:lnTo>
                    <a:pt x="271526" y="3658616"/>
                  </a:lnTo>
                  <a:lnTo>
                    <a:pt x="271526" y="3633216"/>
                  </a:lnTo>
                  <a:lnTo>
                    <a:pt x="271526" y="3658616"/>
                  </a:lnTo>
                  <a:cubicBezTo>
                    <a:pt x="121793" y="3658616"/>
                    <a:pt x="0" y="3538220"/>
                    <a:pt x="0" y="3389376"/>
                  </a:cubicBezTo>
                  <a:lnTo>
                    <a:pt x="0" y="269240"/>
                  </a:lnTo>
                  <a:lnTo>
                    <a:pt x="25400" y="269240"/>
                  </a:lnTo>
                  <a:lnTo>
                    <a:pt x="0" y="269240"/>
                  </a:lnTo>
                  <a:moveTo>
                    <a:pt x="50800" y="269240"/>
                  </a:moveTo>
                  <a:lnTo>
                    <a:pt x="50800" y="3389376"/>
                  </a:lnTo>
                  <a:lnTo>
                    <a:pt x="25400" y="3389376"/>
                  </a:lnTo>
                  <a:lnTo>
                    <a:pt x="50800" y="3389376"/>
                  </a:lnTo>
                  <a:cubicBezTo>
                    <a:pt x="50800" y="3509772"/>
                    <a:pt x="149352" y="3607816"/>
                    <a:pt x="271526" y="3607816"/>
                  </a:cubicBezTo>
                  <a:lnTo>
                    <a:pt x="10459466" y="3607816"/>
                  </a:lnTo>
                  <a:cubicBezTo>
                    <a:pt x="10581640" y="3607816"/>
                    <a:pt x="10680192" y="3509772"/>
                    <a:pt x="10680192" y="3389376"/>
                  </a:cubicBezTo>
                  <a:lnTo>
                    <a:pt x="10680192" y="269240"/>
                  </a:lnTo>
                  <a:cubicBezTo>
                    <a:pt x="10680192" y="148844"/>
                    <a:pt x="10581640" y="50800"/>
                    <a:pt x="10459466" y="50800"/>
                  </a:cubicBezTo>
                  <a:lnTo>
                    <a:pt x="271526" y="50800"/>
                  </a:lnTo>
                  <a:lnTo>
                    <a:pt x="271526" y="25400"/>
                  </a:lnTo>
                  <a:lnTo>
                    <a:pt x="271526" y="50800"/>
                  </a:lnTo>
                  <a:cubicBezTo>
                    <a:pt x="149352" y="50800"/>
                    <a:pt x="50800" y="148844"/>
                    <a:pt x="50800" y="269240"/>
                  </a:cubicBezTo>
                  <a:close/>
                </a:path>
              </a:pathLst>
            </a:custGeom>
            <a:solidFill>
              <a:srgbClr val="C7C7D0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9247584" y="3022401"/>
            <a:ext cx="152400" cy="2705844"/>
            <a:chOff x="0" y="0"/>
            <a:chExt cx="203200" cy="360779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03200" cy="3607816"/>
            </a:xfrm>
            <a:custGeom>
              <a:avLst/>
              <a:gdLst/>
              <a:ahLst/>
              <a:cxnLst/>
              <a:rect r="r" b="b" t="t" l="l"/>
              <a:pathLst>
                <a:path h="3607816" w="203200">
                  <a:moveTo>
                    <a:pt x="0" y="101600"/>
                  </a:moveTo>
                  <a:cubicBezTo>
                    <a:pt x="0" y="45466"/>
                    <a:pt x="45466" y="0"/>
                    <a:pt x="101600" y="0"/>
                  </a:cubicBezTo>
                  <a:cubicBezTo>
                    <a:pt x="157734" y="0"/>
                    <a:pt x="203200" y="45466"/>
                    <a:pt x="203200" y="101600"/>
                  </a:cubicBezTo>
                  <a:lnTo>
                    <a:pt x="203200" y="3506216"/>
                  </a:lnTo>
                  <a:cubicBezTo>
                    <a:pt x="203200" y="3562350"/>
                    <a:pt x="157734" y="3607816"/>
                    <a:pt x="101600" y="3607816"/>
                  </a:cubicBezTo>
                  <a:cubicBezTo>
                    <a:pt x="45466" y="3607816"/>
                    <a:pt x="0" y="3562350"/>
                    <a:pt x="0" y="3506216"/>
                  </a:cubicBezTo>
                  <a:close/>
                </a:path>
              </a:pathLst>
            </a:custGeom>
            <a:solidFill>
              <a:srgbClr val="1B1B27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19" id="19"/>
          <p:cNvSpPr txBox="true"/>
          <p:nvPr/>
        </p:nvSpPr>
        <p:spPr>
          <a:xfrm rot="0">
            <a:off x="9721602" y="3315444"/>
            <a:ext cx="4252912" cy="5601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25"/>
              </a:lnSpc>
            </a:pPr>
            <a:r>
              <a:rPr lang="en-US" sz="3312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Limited Visibility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9721602" y="3950494"/>
            <a:ext cx="7252544" cy="1456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Customers struggle to check real-time vehicle availability, often resulting in frustrating phone calls and wasted time for both parties.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973188" y="5992714"/>
            <a:ext cx="8048030" cy="2743944"/>
            <a:chOff x="0" y="0"/>
            <a:chExt cx="10730707" cy="3658592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25400" y="25400"/>
              <a:ext cx="10679938" cy="3607816"/>
            </a:xfrm>
            <a:custGeom>
              <a:avLst/>
              <a:gdLst/>
              <a:ahLst/>
              <a:cxnLst/>
              <a:rect r="r" b="b" t="t" l="l"/>
              <a:pathLst>
                <a:path h="3607816" w="10679938">
                  <a:moveTo>
                    <a:pt x="0" y="243840"/>
                  </a:moveTo>
                  <a:cubicBezTo>
                    <a:pt x="0" y="109220"/>
                    <a:pt x="110236" y="0"/>
                    <a:pt x="246126" y="0"/>
                  </a:cubicBezTo>
                  <a:lnTo>
                    <a:pt x="10433812" y="0"/>
                  </a:lnTo>
                  <a:cubicBezTo>
                    <a:pt x="10569702" y="0"/>
                    <a:pt x="10679938" y="109220"/>
                    <a:pt x="10679938" y="243840"/>
                  </a:cubicBezTo>
                  <a:lnTo>
                    <a:pt x="10679938" y="3363976"/>
                  </a:lnTo>
                  <a:cubicBezTo>
                    <a:pt x="10679938" y="3498596"/>
                    <a:pt x="10569702" y="3607816"/>
                    <a:pt x="10433812" y="3607816"/>
                  </a:cubicBezTo>
                  <a:lnTo>
                    <a:pt x="246126" y="3607816"/>
                  </a:lnTo>
                  <a:cubicBezTo>
                    <a:pt x="110236" y="3607816"/>
                    <a:pt x="0" y="3498596"/>
                    <a:pt x="0" y="3363976"/>
                  </a:cubicBez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  <a:ln w="12700">
              <a:solidFill>
                <a:srgbClr val="000000"/>
              </a:solidFill>
            </a:ln>
          </p:spPr>
        </p:sp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0730738" cy="3658616"/>
            </a:xfrm>
            <a:custGeom>
              <a:avLst/>
              <a:gdLst/>
              <a:ahLst/>
              <a:cxnLst/>
              <a:rect r="r" b="b" t="t" l="l"/>
              <a:pathLst>
                <a:path h="3658616" w="10730738">
                  <a:moveTo>
                    <a:pt x="0" y="269240"/>
                  </a:moveTo>
                  <a:cubicBezTo>
                    <a:pt x="0" y="120269"/>
                    <a:pt x="121793" y="0"/>
                    <a:pt x="271526" y="0"/>
                  </a:cubicBezTo>
                  <a:lnTo>
                    <a:pt x="10459212" y="0"/>
                  </a:lnTo>
                  <a:lnTo>
                    <a:pt x="10459212" y="25400"/>
                  </a:lnTo>
                  <a:lnTo>
                    <a:pt x="10459212" y="0"/>
                  </a:lnTo>
                  <a:cubicBezTo>
                    <a:pt x="10608945" y="0"/>
                    <a:pt x="10730738" y="120269"/>
                    <a:pt x="10730738" y="269240"/>
                  </a:cubicBezTo>
                  <a:lnTo>
                    <a:pt x="10705338" y="269240"/>
                  </a:lnTo>
                  <a:lnTo>
                    <a:pt x="10730738" y="269240"/>
                  </a:lnTo>
                  <a:lnTo>
                    <a:pt x="10730738" y="3389376"/>
                  </a:lnTo>
                  <a:lnTo>
                    <a:pt x="10705338" y="3389376"/>
                  </a:lnTo>
                  <a:lnTo>
                    <a:pt x="10730738" y="3389376"/>
                  </a:lnTo>
                  <a:cubicBezTo>
                    <a:pt x="10730738" y="3538347"/>
                    <a:pt x="10608945" y="3658616"/>
                    <a:pt x="10459212" y="3658616"/>
                  </a:cubicBezTo>
                  <a:lnTo>
                    <a:pt x="10459212" y="3633216"/>
                  </a:lnTo>
                  <a:lnTo>
                    <a:pt x="10459212" y="3658616"/>
                  </a:lnTo>
                  <a:lnTo>
                    <a:pt x="271526" y="3658616"/>
                  </a:lnTo>
                  <a:lnTo>
                    <a:pt x="271526" y="3633216"/>
                  </a:lnTo>
                  <a:lnTo>
                    <a:pt x="271526" y="3658616"/>
                  </a:lnTo>
                  <a:cubicBezTo>
                    <a:pt x="121793" y="3658616"/>
                    <a:pt x="0" y="3538220"/>
                    <a:pt x="0" y="3389376"/>
                  </a:cubicBezTo>
                  <a:lnTo>
                    <a:pt x="0" y="269240"/>
                  </a:lnTo>
                  <a:lnTo>
                    <a:pt x="25400" y="269240"/>
                  </a:lnTo>
                  <a:lnTo>
                    <a:pt x="0" y="269240"/>
                  </a:lnTo>
                  <a:moveTo>
                    <a:pt x="50800" y="269240"/>
                  </a:moveTo>
                  <a:lnTo>
                    <a:pt x="50800" y="3389376"/>
                  </a:lnTo>
                  <a:lnTo>
                    <a:pt x="25400" y="3389376"/>
                  </a:lnTo>
                  <a:lnTo>
                    <a:pt x="50800" y="3389376"/>
                  </a:lnTo>
                  <a:cubicBezTo>
                    <a:pt x="50800" y="3509772"/>
                    <a:pt x="149352" y="3607816"/>
                    <a:pt x="271526" y="3607816"/>
                  </a:cubicBezTo>
                  <a:lnTo>
                    <a:pt x="10459212" y="3607816"/>
                  </a:lnTo>
                  <a:cubicBezTo>
                    <a:pt x="10581386" y="3607816"/>
                    <a:pt x="10679938" y="3509772"/>
                    <a:pt x="10679938" y="3389376"/>
                  </a:cubicBezTo>
                  <a:lnTo>
                    <a:pt x="10679938" y="269240"/>
                  </a:lnTo>
                  <a:cubicBezTo>
                    <a:pt x="10679938" y="148844"/>
                    <a:pt x="10581386" y="50800"/>
                    <a:pt x="10459212" y="50800"/>
                  </a:cubicBezTo>
                  <a:lnTo>
                    <a:pt x="271526" y="50800"/>
                  </a:lnTo>
                  <a:lnTo>
                    <a:pt x="271526" y="25400"/>
                  </a:lnTo>
                  <a:lnTo>
                    <a:pt x="271526" y="50800"/>
                  </a:lnTo>
                  <a:cubicBezTo>
                    <a:pt x="149352" y="50800"/>
                    <a:pt x="50800" y="148844"/>
                    <a:pt x="50800" y="269240"/>
                  </a:cubicBezTo>
                  <a:close/>
                </a:path>
              </a:pathLst>
            </a:custGeom>
            <a:solidFill>
              <a:srgbClr val="C7C7D0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24" id="24"/>
          <p:cNvGrpSpPr/>
          <p:nvPr/>
        </p:nvGrpSpPr>
        <p:grpSpPr>
          <a:xfrm rot="0">
            <a:off x="954138" y="6011764"/>
            <a:ext cx="152400" cy="2705844"/>
            <a:chOff x="0" y="0"/>
            <a:chExt cx="203200" cy="3607792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03200" cy="3607816"/>
            </a:xfrm>
            <a:custGeom>
              <a:avLst/>
              <a:gdLst/>
              <a:ahLst/>
              <a:cxnLst/>
              <a:rect r="r" b="b" t="t" l="l"/>
              <a:pathLst>
                <a:path h="3607816" w="203200">
                  <a:moveTo>
                    <a:pt x="0" y="101600"/>
                  </a:moveTo>
                  <a:cubicBezTo>
                    <a:pt x="0" y="45466"/>
                    <a:pt x="45466" y="0"/>
                    <a:pt x="101600" y="0"/>
                  </a:cubicBezTo>
                  <a:cubicBezTo>
                    <a:pt x="157734" y="0"/>
                    <a:pt x="203200" y="45466"/>
                    <a:pt x="203200" y="101600"/>
                  </a:cubicBezTo>
                  <a:lnTo>
                    <a:pt x="203200" y="3506216"/>
                  </a:lnTo>
                  <a:cubicBezTo>
                    <a:pt x="203200" y="3562350"/>
                    <a:pt x="157734" y="3607816"/>
                    <a:pt x="101600" y="3607816"/>
                  </a:cubicBezTo>
                  <a:cubicBezTo>
                    <a:pt x="45466" y="3607816"/>
                    <a:pt x="0" y="3562350"/>
                    <a:pt x="0" y="3506216"/>
                  </a:cubicBezTo>
                  <a:close/>
                </a:path>
              </a:pathLst>
            </a:custGeom>
            <a:solidFill>
              <a:srgbClr val="1B1B27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26" id="26"/>
          <p:cNvSpPr txBox="true"/>
          <p:nvPr/>
        </p:nvSpPr>
        <p:spPr>
          <a:xfrm rot="0">
            <a:off x="1428155" y="6304806"/>
            <a:ext cx="4349055" cy="5601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25"/>
              </a:lnSpc>
            </a:pPr>
            <a:r>
              <a:rPr lang="en-US" sz="3312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Administrative Burden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428155" y="6939855"/>
            <a:ext cx="7252395" cy="1456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Administrators manually manage extensive datasets including vehicle inventories, booking records, return schedules, and complex billing calculations.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9266635" y="5992714"/>
            <a:ext cx="8048179" cy="2743944"/>
            <a:chOff x="0" y="0"/>
            <a:chExt cx="10730905" cy="3658592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25400" y="25400"/>
              <a:ext cx="10680192" cy="3607816"/>
            </a:xfrm>
            <a:custGeom>
              <a:avLst/>
              <a:gdLst/>
              <a:ahLst/>
              <a:cxnLst/>
              <a:rect r="r" b="b" t="t" l="l"/>
              <a:pathLst>
                <a:path h="3607816" w="10680192">
                  <a:moveTo>
                    <a:pt x="0" y="243840"/>
                  </a:moveTo>
                  <a:cubicBezTo>
                    <a:pt x="0" y="109220"/>
                    <a:pt x="110236" y="0"/>
                    <a:pt x="246126" y="0"/>
                  </a:cubicBezTo>
                  <a:lnTo>
                    <a:pt x="10434066" y="0"/>
                  </a:lnTo>
                  <a:cubicBezTo>
                    <a:pt x="10569956" y="0"/>
                    <a:pt x="10680192" y="109220"/>
                    <a:pt x="10680192" y="243840"/>
                  </a:cubicBezTo>
                  <a:lnTo>
                    <a:pt x="10680192" y="3363976"/>
                  </a:lnTo>
                  <a:cubicBezTo>
                    <a:pt x="10680192" y="3498596"/>
                    <a:pt x="10569956" y="3607816"/>
                    <a:pt x="10434066" y="3607816"/>
                  </a:cubicBezTo>
                  <a:lnTo>
                    <a:pt x="246126" y="3607816"/>
                  </a:lnTo>
                  <a:cubicBezTo>
                    <a:pt x="110236" y="3607816"/>
                    <a:pt x="0" y="3498596"/>
                    <a:pt x="0" y="3363976"/>
                  </a:cubicBez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  <a:ln w="12700">
              <a:solidFill>
                <a:srgbClr val="000000"/>
              </a:solidFill>
            </a:ln>
          </p:spPr>
        </p:sp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730992" cy="3658616"/>
            </a:xfrm>
            <a:custGeom>
              <a:avLst/>
              <a:gdLst/>
              <a:ahLst/>
              <a:cxnLst/>
              <a:rect r="r" b="b" t="t" l="l"/>
              <a:pathLst>
                <a:path h="3658616" w="10730992">
                  <a:moveTo>
                    <a:pt x="0" y="269240"/>
                  </a:moveTo>
                  <a:cubicBezTo>
                    <a:pt x="0" y="120269"/>
                    <a:pt x="121793" y="0"/>
                    <a:pt x="271526" y="0"/>
                  </a:cubicBezTo>
                  <a:lnTo>
                    <a:pt x="10459466" y="0"/>
                  </a:lnTo>
                  <a:lnTo>
                    <a:pt x="10459466" y="25400"/>
                  </a:lnTo>
                  <a:lnTo>
                    <a:pt x="10459466" y="0"/>
                  </a:lnTo>
                  <a:cubicBezTo>
                    <a:pt x="10609199" y="0"/>
                    <a:pt x="10730992" y="120269"/>
                    <a:pt x="10730992" y="269240"/>
                  </a:cubicBezTo>
                  <a:lnTo>
                    <a:pt x="10705592" y="269240"/>
                  </a:lnTo>
                  <a:lnTo>
                    <a:pt x="10730992" y="269240"/>
                  </a:lnTo>
                  <a:lnTo>
                    <a:pt x="10730992" y="3389376"/>
                  </a:lnTo>
                  <a:lnTo>
                    <a:pt x="10705592" y="3389376"/>
                  </a:lnTo>
                  <a:lnTo>
                    <a:pt x="10730992" y="3389376"/>
                  </a:lnTo>
                  <a:cubicBezTo>
                    <a:pt x="10730992" y="3538347"/>
                    <a:pt x="10609199" y="3658616"/>
                    <a:pt x="10459466" y="3658616"/>
                  </a:cubicBezTo>
                  <a:lnTo>
                    <a:pt x="10459466" y="3633216"/>
                  </a:lnTo>
                  <a:lnTo>
                    <a:pt x="10459466" y="3658616"/>
                  </a:lnTo>
                  <a:lnTo>
                    <a:pt x="271526" y="3658616"/>
                  </a:lnTo>
                  <a:lnTo>
                    <a:pt x="271526" y="3633216"/>
                  </a:lnTo>
                  <a:lnTo>
                    <a:pt x="271526" y="3658616"/>
                  </a:lnTo>
                  <a:cubicBezTo>
                    <a:pt x="121793" y="3658616"/>
                    <a:pt x="0" y="3538220"/>
                    <a:pt x="0" y="3389376"/>
                  </a:cubicBezTo>
                  <a:lnTo>
                    <a:pt x="0" y="269240"/>
                  </a:lnTo>
                  <a:lnTo>
                    <a:pt x="25400" y="269240"/>
                  </a:lnTo>
                  <a:lnTo>
                    <a:pt x="0" y="269240"/>
                  </a:lnTo>
                  <a:moveTo>
                    <a:pt x="50800" y="269240"/>
                  </a:moveTo>
                  <a:lnTo>
                    <a:pt x="50800" y="3389376"/>
                  </a:lnTo>
                  <a:lnTo>
                    <a:pt x="25400" y="3389376"/>
                  </a:lnTo>
                  <a:lnTo>
                    <a:pt x="50800" y="3389376"/>
                  </a:lnTo>
                  <a:cubicBezTo>
                    <a:pt x="50800" y="3509772"/>
                    <a:pt x="149352" y="3607816"/>
                    <a:pt x="271526" y="3607816"/>
                  </a:cubicBezTo>
                  <a:lnTo>
                    <a:pt x="10459466" y="3607816"/>
                  </a:lnTo>
                  <a:cubicBezTo>
                    <a:pt x="10581640" y="3607816"/>
                    <a:pt x="10680192" y="3509772"/>
                    <a:pt x="10680192" y="3389376"/>
                  </a:cubicBezTo>
                  <a:lnTo>
                    <a:pt x="10680192" y="269240"/>
                  </a:lnTo>
                  <a:cubicBezTo>
                    <a:pt x="10680192" y="148844"/>
                    <a:pt x="10581640" y="50800"/>
                    <a:pt x="10459466" y="50800"/>
                  </a:cubicBezTo>
                  <a:lnTo>
                    <a:pt x="271526" y="50800"/>
                  </a:lnTo>
                  <a:lnTo>
                    <a:pt x="271526" y="25400"/>
                  </a:lnTo>
                  <a:lnTo>
                    <a:pt x="271526" y="50800"/>
                  </a:lnTo>
                  <a:cubicBezTo>
                    <a:pt x="149352" y="50800"/>
                    <a:pt x="50800" y="148844"/>
                    <a:pt x="50800" y="269240"/>
                  </a:cubicBezTo>
                  <a:close/>
                </a:path>
              </a:pathLst>
            </a:custGeom>
            <a:solidFill>
              <a:srgbClr val="C7C7D0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31" id="31"/>
          <p:cNvGrpSpPr/>
          <p:nvPr/>
        </p:nvGrpSpPr>
        <p:grpSpPr>
          <a:xfrm rot="0">
            <a:off x="9247584" y="6011764"/>
            <a:ext cx="152400" cy="2705844"/>
            <a:chOff x="0" y="0"/>
            <a:chExt cx="203200" cy="3607792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03200" cy="3607816"/>
            </a:xfrm>
            <a:custGeom>
              <a:avLst/>
              <a:gdLst/>
              <a:ahLst/>
              <a:cxnLst/>
              <a:rect r="r" b="b" t="t" l="l"/>
              <a:pathLst>
                <a:path h="3607816" w="203200">
                  <a:moveTo>
                    <a:pt x="0" y="101600"/>
                  </a:moveTo>
                  <a:cubicBezTo>
                    <a:pt x="0" y="45466"/>
                    <a:pt x="45466" y="0"/>
                    <a:pt x="101600" y="0"/>
                  </a:cubicBezTo>
                  <a:cubicBezTo>
                    <a:pt x="157734" y="0"/>
                    <a:pt x="203200" y="45466"/>
                    <a:pt x="203200" y="101600"/>
                  </a:cubicBezTo>
                  <a:lnTo>
                    <a:pt x="203200" y="3506216"/>
                  </a:lnTo>
                  <a:cubicBezTo>
                    <a:pt x="203200" y="3562350"/>
                    <a:pt x="157734" y="3607816"/>
                    <a:pt x="101600" y="3607816"/>
                  </a:cubicBezTo>
                  <a:cubicBezTo>
                    <a:pt x="45466" y="3607816"/>
                    <a:pt x="0" y="3562350"/>
                    <a:pt x="0" y="3506216"/>
                  </a:cubicBezTo>
                  <a:close/>
                </a:path>
              </a:pathLst>
            </a:custGeom>
            <a:solidFill>
              <a:srgbClr val="1B1B27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33" id="33"/>
          <p:cNvSpPr txBox="true"/>
          <p:nvPr/>
        </p:nvSpPr>
        <p:spPr>
          <a:xfrm rot="0">
            <a:off x="9721602" y="6304806"/>
            <a:ext cx="4252912" cy="5601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25"/>
              </a:lnSpc>
            </a:pPr>
            <a:r>
              <a:rPr lang="en-US" sz="3312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Our Solution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9721602" y="6939855"/>
            <a:ext cx="7252544" cy="1456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A centralized, automated management system that eliminates inefficiencies and creates a seamless experience for all stakeholders.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CECF3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6" id="6"/>
          <p:cNvSpPr txBox="true"/>
          <p:nvPr/>
        </p:nvSpPr>
        <p:spPr>
          <a:xfrm rot="0">
            <a:off x="855315" y="633859"/>
            <a:ext cx="10210651" cy="801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4750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System Architecture &amp; Methodology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55315" y="2027485"/>
            <a:ext cx="3665636" cy="4771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874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Technology Stack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55315" y="2663279"/>
            <a:ext cx="6273105" cy="4766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82773" indent="-141387" lvl="1">
              <a:lnSpc>
                <a:spcPts val="3062"/>
              </a:lnSpc>
              <a:buFont typeface="Arial"/>
              <a:buChar char="•"/>
            </a:pPr>
            <a:r>
              <a:rPr lang="en-US" b="true" sz="1874">
                <a:solidFill>
                  <a:srgbClr val="3C3939"/>
                </a:solidFill>
                <a:latin typeface="Roboto Bold"/>
                <a:ea typeface="Roboto Bold"/>
                <a:cs typeface="Roboto Bold"/>
                <a:sym typeface="Roboto Bold"/>
              </a:rPr>
              <a:t>Java 17</a:t>
            </a:r>
            <a:r>
              <a:rPr lang="en-US" sz="1874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 for robust backend logic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855315" y="3139679"/>
            <a:ext cx="6273105" cy="4766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82773" indent="-141387" lvl="1">
              <a:lnSpc>
                <a:spcPts val="3062"/>
              </a:lnSpc>
              <a:buFont typeface="Arial"/>
              <a:buChar char="•"/>
            </a:pPr>
            <a:r>
              <a:rPr lang="en-US" b="true" sz="1874">
                <a:solidFill>
                  <a:srgbClr val="3C3939"/>
                </a:solidFill>
                <a:latin typeface="Roboto Bold"/>
                <a:ea typeface="Roboto Bold"/>
                <a:cs typeface="Roboto Bold"/>
                <a:sym typeface="Roboto Bold"/>
              </a:rPr>
              <a:t>Spring Boot</a:t>
            </a:r>
            <a:r>
              <a:rPr lang="en-US" sz="1874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 for rapid development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855315" y="3616077"/>
            <a:ext cx="6273105" cy="4766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82773" indent="-141387" lvl="1">
              <a:lnSpc>
                <a:spcPts val="3062"/>
              </a:lnSpc>
              <a:buFont typeface="Arial"/>
              <a:buChar char="•"/>
            </a:pPr>
            <a:r>
              <a:rPr lang="en-US" b="true" sz="1874">
                <a:solidFill>
                  <a:srgbClr val="3C3939"/>
                </a:solidFill>
                <a:latin typeface="Roboto Bold"/>
                <a:ea typeface="Roboto Bold"/>
                <a:cs typeface="Roboto Bold"/>
                <a:sym typeface="Roboto Bold"/>
              </a:rPr>
              <a:t>JavaFX</a:t>
            </a:r>
            <a:r>
              <a:rPr lang="en-US" sz="1874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 for rich desktop UI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855315" y="4092476"/>
            <a:ext cx="6273105" cy="4766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82773" indent="-141387" lvl="1">
              <a:lnSpc>
                <a:spcPts val="3062"/>
              </a:lnSpc>
              <a:buFont typeface="Arial"/>
              <a:buChar char="•"/>
            </a:pPr>
            <a:r>
              <a:rPr lang="en-US" b="true" sz="1874">
                <a:solidFill>
                  <a:srgbClr val="3C3939"/>
                </a:solidFill>
                <a:latin typeface="Roboto Bold"/>
                <a:ea typeface="Roboto Bold"/>
                <a:cs typeface="Roboto Bold"/>
                <a:sym typeface="Roboto Bold"/>
              </a:rPr>
              <a:t>MySQL</a:t>
            </a:r>
            <a:r>
              <a:rPr lang="en-US" sz="1874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 for reliable data storage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855315" y="4568875"/>
            <a:ext cx="6273105" cy="4766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82773" indent="-141387" lvl="1">
              <a:lnSpc>
                <a:spcPts val="3062"/>
              </a:lnSpc>
              <a:buFont typeface="Arial"/>
              <a:buChar char="•"/>
            </a:pPr>
            <a:r>
              <a:rPr lang="en-US" b="true" sz="1874">
                <a:solidFill>
                  <a:srgbClr val="3C3939"/>
                </a:solidFill>
                <a:latin typeface="Roboto Bold"/>
                <a:ea typeface="Roboto Bold"/>
                <a:cs typeface="Roboto Bold"/>
                <a:sym typeface="Roboto Bold"/>
              </a:rPr>
              <a:t>MVC Architecture</a:t>
            </a:r>
            <a:r>
              <a:rPr lang="en-US" sz="1874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 with REST services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55315" y="5045274"/>
            <a:ext cx="6273105" cy="4766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82773" indent="-141387" lvl="1">
              <a:lnSpc>
                <a:spcPts val="3062"/>
              </a:lnSpc>
              <a:buFont typeface="Arial"/>
              <a:buChar char="•"/>
            </a:pPr>
            <a:r>
              <a:rPr lang="en-US" b="true" sz="1874">
                <a:solidFill>
                  <a:srgbClr val="3C3939"/>
                </a:solidFill>
                <a:latin typeface="Roboto Bold"/>
                <a:ea typeface="Roboto Bold"/>
                <a:cs typeface="Roboto Bold"/>
                <a:sym typeface="Roboto Bold"/>
              </a:rPr>
              <a:t>GitHub</a:t>
            </a:r>
            <a:r>
              <a:rPr lang="en-US" sz="1874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 for version control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7734151" y="2027485"/>
            <a:ext cx="3736479" cy="4771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874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Development Process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7734151" y="2693789"/>
            <a:ext cx="244376" cy="391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1874">
                <a:solidFill>
                  <a:srgbClr val="3C3939"/>
                </a:solidFill>
                <a:latin typeface="Raleway Light"/>
                <a:ea typeface="Raleway Light"/>
                <a:cs typeface="Raleway Light"/>
                <a:sym typeface="Raleway Light"/>
              </a:rPr>
              <a:t>01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7734151" y="3166170"/>
            <a:ext cx="4731692" cy="28575"/>
            <a:chOff x="0" y="0"/>
            <a:chExt cx="6308923" cy="381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6308979" cy="38100"/>
            </a:xfrm>
            <a:custGeom>
              <a:avLst/>
              <a:gdLst/>
              <a:ahLst/>
              <a:cxnLst/>
              <a:rect r="r" b="b" t="t" l="l"/>
              <a:pathLst>
                <a:path h="38100" w="6308979">
                  <a:moveTo>
                    <a:pt x="0" y="0"/>
                  </a:moveTo>
                  <a:lnTo>
                    <a:pt x="6308979" y="0"/>
                  </a:lnTo>
                  <a:lnTo>
                    <a:pt x="6308979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1B1B27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18" id="18"/>
          <p:cNvSpPr txBox="true"/>
          <p:nvPr/>
        </p:nvSpPr>
        <p:spPr>
          <a:xfrm rot="0">
            <a:off x="7734151" y="3316932"/>
            <a:ext cx="3566517" cy="4104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375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Requirements &amp; Planning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7734151" y="3886051"/>
            <a:ext cx="4731692" cy="8676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1874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Analyzed needs and defined system specifications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710220" y="2693789"/>
            <a:ext cx="244376" cy="391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1874">
                <a:solidFill>
                  <a:srgbClr val="3C3939"/>
                </a:solidFill>
                <a:latin typeface="Raleway Light"/>
                <a:ea typeface="Raleway Light"/>
                <a:cs typeface="Raleway Light"/>
                <a:sym typeface="Raleway Light"/>
              </a:rPr>
              <a:t>02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2710220" y="3166170"/>
            <a:ext cx="4731841" cy="28575"/>
            <a:chOff x="0" y="0"/>
            <a:chExt cx="6309122" cy="381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6309106" cy="38100"/>
            </a:xfrm>
            <a:custGeom>
              <a:avLst/>
              <a:gdLst/>
              <a:ahLst/>
              <a:cxnLst/>
              <a:rect r="r" b="b" t="t" l="l"/>
              <a:pathLst>
                <a:path h="38100" w="6309106">
                  <a:moveTo>
                    <a:pt x="0" y="0"/>
                  </a:moveTo>
                  <a:lnTo>
                    <a:pt x="6309106" y="0"/>
                  </a:lnTo>
                  <a:lnTo>
                    <a:pt x="6309106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1B1B27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23" id="23"/>
          <p:cNvSpPr txBox="true"/>
          <p:nvPr/>
        </p:nvSpPr>
        <p:spPr>
          <a:xfrm rot="0">
            <a:off x="12710220" y="3316932"/>
            <a:ext cx="3054697" cy="4104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375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Design Phase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2710220" y="3886051"/>
            <a:ext cx="4731841" cy="4766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1874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Created UI mockups and database schema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7734151" y="5095577"/>
            <a:ext cx="244376" cy="391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1874">
                <a:solidFill>
                  <a:srgbClr val="3C3939"/>
                </a:solidFill>
                <a:latin typeface="Raleway Light"/>
                <a:ea typeface="Raleway Light"/>
                <a:cs typeface="Raleway Light"/>
                <a:sym typeface="Raleway Light"/>
              </a:rPr>
              <a:t>03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7734151" y="5567958"/>
            <a:ext cx="4731692" cy="28575"/>
            <a:chOff x="0" y="0"/>
            <a:chExt cx="6308923" cy="381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6308979" cy="38100"/>
            </a:xfrm>
            <a:custGeom>
              <a:avLst/>
              <a:gdLst/>
              <a:ahLst/>
              <a:cxnLst/>
              <a:rect r="r" b="b" t="t" l="l"/>
              <a:pathLst>
                <a:path h="38100" w="6308979">
                  <a:moveTo>
                    <a:pt x="0" y="0"/>
                  </a:moveTo>
                  <a:lnTo>
                    <a:pt x="6308979" y="0"/>
                  </a:lnTo>
                  <a:lnTo>
                    <a:pt x="6308979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1B1B27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28" id="28"/>
          <p:cNvSpPr txBox="true"/>
          <p:nvPr/>
        </p:nvSpPr>
        <p:spPr>
          <a:xfrm rot="0">
            <a:off x="7734151" y="5718721"/>
            <a:ext cx="3397300" cy="4104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375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Feature Implementation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7734151" y="6287840"/>
            <a:ext cx="4731692" cy="4766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1874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Built modules incrementally with testing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2710220" y="5095577"/>
            <a:ext cx="244376" cy="391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1874">
                <a:solidFill>
                  <a:srgbClr val="3C3939"/>
                </a:solidFill>
                <a:latin typeface="Raleway Light"/>
                <a:ea typeface="Raleway Light"/>
                <a:cs typeface="Raleway Light"/>
                <a:sym typeface="Raleway Light"/>
              </a:rPr>
              <a:t>04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12710220" y="5567958"/>
            <a:ext cx="4731841" cy="28575"/>
            <a:chOff x="0" y="0"/>
            <a:chExt cx="6309122" cy="381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6309106" cy="38100"/>
            </a:xfrm>
            <a:custGeom>
              <a:avLst/>
              <a:gdLst/>
              <a:ahLst/>
              <a:cxnLst/>
              <a:rect r="r" b="b" t="t" l="l"/>
              <a:pathLst>
                <a:path h="38100" w="6309106">
                  <a:moveTo>
                    <a:pt x="0" y="0"/>
                  </a:moveTo>
                  <a:lnTo>
                    <a:pt x="6309106" y="0"/>
                  </a:lnTo>
                  <a:lnTo>
                    <a:pt x="6309106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1B1B27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33" id="33"/>
          <p:cNvSpPr txBox="true"/>
          <p:nvPr/>
        </p:nvSpPr>
        <p:spPr>
          <a:xfrm rot="0">
            <a:off x="12710220" y="5718721"/>
            <a:ext cx="3054697" cy="4104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375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Validation &amp; Testing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2710220" y="6287840"/>
            <a:ext cx="4731841" cy="8676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1874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Comprehensive quality assurance procedures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7734151" y="7497366"/>
            <a:ext cx="244376" cy="391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1874">
                <a:solidFill>
                  <a:srgbClr val="3C3939"/>
                </a:solidFill>
                <a:latin typeface="Raleway Light"/>
                <a:ea typeface="Raleway Light"/>
                <a:cs typeface="Raleway Light"/>
                <a:sym typeface="Raleway Light"/>
              </a:rPr>
              <a:t>05</a:t>
            </a:r>
          </a:p>
        </p:txBody>
      </p:sp>
      <p:grpSp>
        <p:nvGrpSpPr>
          <p:cNvPr name="Group 36" id="36"/>
          <p:cNvGrpSpPr/>
          <p:nvPr/>
        </p:nvGrpSpPr>
        <p:grpSpPr>
          <a:xfrm rot="0">
            <a:off x="7734151" y="7969746"/>
            <a:ext cx="9707910" cy="28575"/>
            <a:chOff x="0" y="0"/>
            <a:chExt cx="12943880" cy="381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2943840" cy="38100"/>
            </a:xfrm>
            <a:custGeom>
              <a:avLst/>
              <a:gdLst/>
              <a:ahLst/>
              <a:cxnLst/>
              <a:rect r="r" b="b" t="t" l="l"/>
              <a:pathLst>
                <a:path h="38100" w="12943840">
                  <a:moveTo>
                    <a:pt x="0" y="0"/>
                  </a:moveTo>
                  <a:lnTo>
                    <a:pt x="12943840" y="0"/>
                  </a:lnTo>
                  <a:lnTo>
                    <a:pt x="1294384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1B1B27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38" id="38"/>
          <p:cNvSpPr txBox="true"/>
          <p:nvPr/>
        </p:nvSpPr>
        <p:spPr>
          <a:xfrm rot="0">
            <a:off x="7734151" y="8120509"/>
            <a:ext cx="3299222" cy="4104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375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Deployment Packaging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7734151" y="8689627"/>
            <a:ext cx="9707910" cy="4766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1874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Final optimization and distribution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CECF3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6" id="6"/>
          <p:cNvSpPr txBox="true"/>
          <p:nvPr/>
        </p:nvSpPr>
        <p:spPr>
          <a:xfrm rot="0">
            <a:off x="618084" y="458837"/>
            <a:ext cx="7042994" cy="5802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12"/>
              </a:lnSpc>
            </a:pPr>
            <a:r>
              <a:rPr lang="en-US" sz="3437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Implementation &amp; Testing Strategy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18084" y="1584424"/>
            <a:ext cx="2224831" cy="3043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24"/>
              </a:lnSpc>
            </a:pPr>
            <a:r>
              <a:rPr lang="en-US" sz="1687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Module Development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18084" y="1937445"/>
            <a:ext cx="8415486" cy="339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87"/>
              </a:lnSpc>
            </a:pPr>
            <a:r>
              <a:rPr lang="en-US" sz="137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Each core module was built independently with isolated unit testing to ensure reliability and maintainability.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254281" y="1584424"/>
            <a:ext cx="2207419" cy="3043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24"/>
              </a:lnSpc>
            </a:pPr>
            <a:r>
              <a:rPr lang="en-US" sz="1687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CRUD Validation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254281" y="1937445"/>
            <a:ext cx="8415635" cy="6223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87"/>
              </a:lnSpc>
            </a:pPr>
            <a:r>
              <a:rPr lang="en-US" sz="137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Comprehensive validation of Create, Read, Update, and Delete operations across users, vehicles, and bookings.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18084" y="2805559"/>
            <a:ext cx="3592860" cy="3501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62"/>
              </a:lnSpc>
            </a:pPr>
            <a:r>
              <a:rPr lang="en-US" sz="2062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End-to-End Workflow Testing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18084" y="3420516"/>
            <a:ext cx="882849" cy="1059507"/>
            <a:chOff x="0" y="0"/>
            <a:chExt cx="1177132" cy="1412677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1177163" cy="1412621"/>
            </a:xfrm>
            <a:custGeom>
              <a:avLst/>
              <a:gdLst/>
              <a:ahLst/>
              <a:cxnLst/>
              <a:rect r="r" b="b" t="t" l="l"/>
              <a:pathLst>
                <a:path h="1412621" w="1177163">
                  <a:moveTo>
                    <a:pt x="0" y="0"/>
                  </a:moveTo>
                  <a:lnTo>
                    <a:pt x="1177163" y="0"/>
                  </a:lnTo>
                  <a:lnTo>
                    <a:pt x="1177163" y="1412621"/>
                  </a:lnTo>
                  <a:lnTo>
                    <a:pt x="0" y="14126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274" t="0" r="-271" b="-3"/>
              </a:stretch>
            </a:blip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1677441" y="3568452"/>
            <a:ext cx="2207419" cy="3043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24"/>
              </a:lnSpc>
            </a:pPr>
            <a:r>
              <a:rPr lang="en-US" sz="1687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Search Availability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677441" y="3921472"/>
            <a:ext cx="15992475" cy="339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87"/>
              </a:lnSpc>
            </a:pPr>
            <a:r>
              <a:rPr lang="en-US" sz="137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Real-time query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618084" y="4480024"/>
            <a:ext cx="882849" cy="1059508"/>
            <a:chOff x="0" y="0"/>
            <a:chExt cx="1177132" cy="1412677"/>
          </a:xfrm>
        </p:grpSpPr>
        <p:sp>
          <p:nvSpPr>
            <p:cNvPr name="Freeform 17" id="17" descr="preencoded.png"/>
            <p:cNvSpPr/>
            <p:nvPr/>
          </p:nvSpPr>
          <p:spPr>
            <a:xfrm flipH="false" flipV="false" rot="0">
              <a:off x="0" y="0"/>
              <a:ext cx="1177163" cy="1412621"/>
            </a:xfrm>
            <a:custGeom>
              <a:avLst/>
              <a:gdLst/>
              <a:ahLst/>
              <a:cxnLst/>
              <a:rect r="r" b="b" t="t" l="l"/>
              <a:pathLst>
                <a:path h="1412621" w="1177163">
                  <a:moveTo>
                    <a:pt x="0" y="0"/>
                  </a:moveTo>
                  <a:lnTo>
                    <a:pt x="1177163" y="0"/>
                  </a:lnTo>
                  <a:lnTo>
                    <a:pt x="1177163" y="1412621"/>
                  </a:lnTo>
                  <a:lnTo>
                    <a:pt x="0" y="14126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74" t="0" r="-271" b="-3"/>
              </a:stretch>
            </a:blip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1677441" y="4627959"/>
            <a:ext cx="2207419" cy="3043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24"/>
              </a:lnSpc>
            </a:pPr>
            <a:r>
              <a:rPr lang="en-US" sz="1687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Book Vehicle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677441" y="4980980"/>
            <a:ext cx="15992475" cy="339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87"/>
              </a:lnSpc>
            </a:pPr>
            <a:r>
              <a:rPr lang="en-US" sz="137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Reservation creation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618084" y="5539531"/>
            <a:ext cx="882849" cy="1059507"/>
            <a:chOff x="0" y="0"/>
            <a:chExt cx="1177132" cy="1412677"/>
          </a:xfrm>
        </p:grpSpPr>
        <p:sp>
          <p:nvSpPr>
            <p:cNvPr name="Freeform 21" id="21" descr="preencoded.png"/>
            <p:cNvSpPr/>
            <p:nvPr/>
          </p:nvSpPr>
          <p:spPr>
            <a:xfrm flipH="false" flipV="false" rot="0">
              <a:off x="0" y="0"/>
              <a:ext cx="1177163" cy="1412621"/>
            </a:xfrm>
            <a:custGeom>
              <a:avLst/>
              <a:gdLst/>
              <a:ahLst/>
              <a:cxnLst/>
              <a:rect r="r" b="b" t="t" l="l"/>
              <a:pathLst>
                <a:path h="1412621" w="1177163">
                  <a:moveTo>
                    <a:pt x="0" y="0"/>
                  </a:moveTo>
                  <a:lnTo>
                    <a:pt x="1177163" y="0"/>
                  </a:lnTo>
                  <a:lnTo>
                    <a:pt x="1177163" y="1412621"/>
                  </a:lnTo>
                  <a:lnTo>
                    <a:pt x="0" y="14126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74" t="0" r="-271" b="-3"/>
              </a:stretch>
            </a:blipFill>
          </p:spPr>
        </p:sp>
      </p:grpSp>
      <p:sp>
        <p:nvSpPr>
          <p:cNvPr name="TextBox 22" id="22"/>
          <p:cNvSpPr txBox="true"/>
          <p:nvPr/>
        </p:nvSpPr>
        <p:spPr>
          <a:xfrm rot="0">
            <a:off x="1677441" y="5687466"/>
            <a:ext cx="2207419" cy="3043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24"/>
              </a:lnSpc>
            </a:pPr>
            <a:r>
              <a:rPr lang="en-US" sz="1687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Rent Process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677441" y="6040488"/>
            <a:ext cx="15992475" cy="339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87"/>
              </a:lnSpc>
            </a:pPr>
            <a:r>
              <a:rPr lang="en-US" sz="137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Contract initiation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618084" y="6599039"/>
            <a:ext cx="882849" cy="1059507"/>
            <a:chOff x="0" y="0"/>
            <a:chExt cx="1177132" cy="1412677"/>
          </a:xfrm>
        </p:grpSpPr>
        <p:sp>
          <p:nvSpPr>
            <p:cNvPr name="Freeform 25" id="25" descr="preencoded.png"/>
            <p:cNvSpPr/>
            <p:nvPr/>
          </p:nvSpPr>
          <p:spPr>
            <a:xfrm flipH="false" flipV="false" rot="0">
              <a:off x="0" y="0"/>
              <a:ext cx="1177163" cy="1412621"/>
            </a:xfrm>
            <a:custGeom>
              <a:avLst/>
              <a:gdLst/>
              <a:ahLst/>
              <a:cxnLst/>
              <a:rect r="r" b="b" t="t" l="l"/>
              <a:pathLst>
                <a:path h="1412621" w="1177163">
                  <a:moveTo>
                    <a:pt x="0" y="0"/>
                  </a:moveTo>
                  <a:lnTo>
                    <a:pt x="1177163" y="0"/>
                  </a:lnTo>
                  <a:lnTo>
                    <a:pt x="1177163" y="1412621"/>
                  </a:lnTo>
                  <a:lnTo>
                    <a:pt x="0" y="14126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274" t="0" r="-271" b="-3"/>
              </a:stretch>
            </a:blipFill>
          </p:spPr>
        </p:sp>
      </p:grpSp>
      <p:sp>
        <p:nvSpPr>
          <p:cNvPr name="TextBox 26" id="26"/>
          <p:cNvSpPr txBox="true"/>
          <p:nvPr/>
        </p:nvSpPr>
        <p:spPr>
          <a:xfrm rot="0">
            <a:off x="1677441" y="6746974"/>
            <a:ext cx="2207419" cy="3043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24"/>
              </a:lnSpc>
            </a:pPr>
            <a:r>
              <a:rPr lang="en-US" sz="1687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Return Vehicle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677441" y="7099995"/>
            <a:ext cx="15992475" cy="339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87"/>
              </a:lnSpc>
            </a:pPr>
            <a:r>
              <a:rPr lang="en-US" sz="137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Check-in workflow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618084" y="7658546"/>
            <a:ext cx="882849" cy="1059507"/>
            <a:chOff x="0" y="0"/>
            <a:chExt cx="1177132" cy="1412677"/>
          </a:xfrm>
        </p:grpSpPr>
        <p:sp>
          <p:nvSpPr>
            <p:cNvPr name="Freeform 29" id="29" descr="preencoded.png"/>
            <p:cNvSpPr/>
            <p:nvPr/>
          </p:nvSpPr>
          <p:spPr>
            <a:xfrm flipH="false" flipV="false" rot="0">
              <a:off x="0" y="0"/>
              <a:ext cx="1177163" cy="1412621"/>
            </a:xfrm>
            <a:custGeom>
              <a:avLst/>
              <a:gdLst/>
              <a:ahLst/>
              <a:cxnLst/>
              <a:rect r="r" b="b" t="t" l="l"/>
              <a:pathLst>
                <a:path h="1412621" w="1177163">
                  <a:moveTo>
                    <a:pt x="0" y="0"/>
                  </a:moveTo>
                  <a:lnTo>
                    <a:pt x="1177163" y="0"/>
                  </a:lnTo>
                  <a:lnTo>
                    <a:pt x="1177163" y="1412621"/>
                  </a:lnTo>
                  <a:lnTo>
                    <a:pt x="0" y="14126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274" t="0" r="-271" b="-3"/>
              </a:stretch>
            </a:blipFill>
          </p:spPr>
        </p:sp>
      </p:grpSp>
      <p:sp>
        <p:nvSpPr>
          <p:cNvPr name="TextBox 30" id="30"/>
          <p:cNvSpPr txBox="true"/>
          <p:nvPr/>
        </p:nvSpPr>
        <p:spPr>
          <a:xfrm rot="0">
            <a:off x="1677441" y="7806481"/>
            <a:ext cx="2207419" cy="3043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24"/>
              </a:lnSpc>
            </a:pPr>
            <a:r>
              <a:rPr lang="en-US" sz="1687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Generate Bill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677441" y="8159502"/>
            <a:ext cx="15992475" cy="339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87"/>
              </a:lnSpc>
            </a:pPr>
            <a:r>
              <a:rPr lang="en-US" sz="137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Payment calculation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618084" y="9018240"/>
            <a:ext cx="8310562" cy="6223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87"/>
              </a:lnSpc>
            </a:pPr>
            <a:r>
              <a:rPr lang="en-US" sz="1375" b="true">
                <a:solidFill>
                  <a:srgbClr val="3C3939"/>
                </a:solidFill>
                <a:latin typeface="Roboto Bold"/>
                <a:ea typeface="Roboto Bold"/>
                <a:cs typeface="Roboto Bold"/>
                <a:sym typeface="Roboto Bold"/>
              </a:rPr>
              <a:t>Stress Testing:</a:t>
            </a:r>
            <a:r>
              <a:rPr lang="en-US" sz="137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 System validated with high-volume sample data entries to ensure scalability and performance under load.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9368879" y="9018240"/>
            <a:ext cx="8310562" cy="6223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87"/>
              </a:lnSpc>
            </a:pPr>
            <a:r>
              <a:rPr lang="en-US" sz="1375" b="true">
                <a:solidFill>
                  <a:srgbClr val="3C3939"/>
                </a:solidFill>
                <a:latin typeface="Roboto Bold"/>
                <a:ea typeface="Roboto Bold"/>
                <a:cs typeface="Roboto Bold"/>
                <a:sym typeface="Roboto Bold"/>
              </a:rPr>
              <a:t>Integration Testing:</a:t>
            </a:r>
            <a:r>
              <a:rPr lang="en-US" sz="137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 Frontend-backend communication verified for optimal request/response latency and error handling.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CECF3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6" id="6"/>
          <p:cNvSpPr txBox="true"/>
          <p:nvPr/>
        </p:nvSpPr>
        <p:spPr>
          <a:xfrm rot="0">
            <a:off x="992238" y="1562546"/>
            <a:ext cx="10313342" cy="9145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Results &amp; Performance Analysis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92238" y="3167806"/>
            <a:ext cx="5198269" cy="8117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100%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817786" y="4305151"/>
            <a:ext cx="3547170" cy="4714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Workflow Automation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92238" y="4851499"/>
            <a:ext cx="5198269" cy="5488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Complete rental process digitized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544866" y="3167806"/>
            <a:ext cx="5198269" cy="8117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60%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7371904" y="4305151"/>
            <a:ext cx="3544044" cy="4714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Time Reduction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544866" y="4851499"/>
            <a:ext cx="5198269" cy="5488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Estimated decrease in processing time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2097494" y="3167806"/>
            <a:ext cx="5198269" cy="8117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95%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924533" y="4305151"/>
            <a:ext cx="3544044" cy="4714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Error Reduction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097494" y="4851499"/>
            <a:ext cx="5198269" cy="5488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Fewer mistakes vs. manual operations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92238" y="5797004"/>
            <a:ext cx="4252912" cy="5601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25"/>
              </a:lnSpc>
            </a:pPr>
            <a:r>
              <a:rPr lang="en-US" sz="3312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Key Achievements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92238" y="6942236"/>
            <a:ext cx="7805886" cy="5488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29902" indent="-164951" lvl="1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Real-time rental workflow handling with instant updates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992238" y="7494985"/>
            <a:ext cx="7805886" cy="5488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29902" indent="-164951" lvl="1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Intuitive UI design for both administrators and customers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92238" y="8047732"/>
            <a:ext cx="7805886" cy="5488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29902" indent="-164951" lvl="1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Stable performance with efficient database queries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9499401" y="6942236"/>
            <a:ext cx="7805886" cy="5488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29902" indent="-164951" lvl="1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Modular architecture enabling easy feature additions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9499401" y="7494985"/>
            <a:ext cx="7805886" cy="5488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29902" indent="-164951" lvl="1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Scalable foundation ready for SaaS transformation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499401" y="8047732"/>
            <a:ext cx="7805886" cy="5488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29902" indent="-164951" lvl="1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Comprehensive data management capabilities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CECF3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0"/>
            <a:ext cx="9144000" cy="10295930"/>
            <a:chOff x="0" y="0"/>
            <a:chExt cx="12192000" cy="13727907"/>
          </a:xfrm>
        </p:grpSpPr>
        <p:sp>
          <p:nvSpPr>
            <p:cNvPr name="Freeform 7" id="7" descr="preencoded.png"/>
            <p:cNvSpPr/>
            <p:nvPr/>
          </p:nvSpPr>
          <p:spPr>
            <a:xfrm flipH="false" flipV="false" rot="0">
              <a:off x="0" y="0"/>
              <a:ext cx="12192000" cy="13727937"/>
            </a:xfrm>
            <a:custGeom>
              <a:avLst/>
              <a:gdLst/>
              <a:ahLst/>
              <a:cxnLst/>
              <a:rect r="r" b="b" t="t" l="l"/>
              <a:pathLst>
                <a:path h="13727937" w="12192000">
                  <a:moveTo>
                    <a:pt x="0" y="0"/>
                  </a:moveTo>
                  <a:lnTo>
                    <a:pt x="12192000" y="0"/>
                  </a:lnTo>
                  <a:lnTo>
                    <a:pt x="12192000" y="13727937"/>
                  </a:lnTo>
                  <a:lnTo>
                    <a:pt x="0" y="137279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" r="0" b="-2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213718" y="2848867"/>
            <a:ext cx="8716566" cy="4598045"/>
            <a:chOff x="0" y="0"/>
            <a:chExt cx="11622088" cy="6130727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11622151" cy="6130671"/>
            </a:xfrm>
            <a:custGeom>
              <a:avLst/>
              <a:gdLst/>
              <a:ahLst/>
              <a:cxnLst/>
              <a:rect r="r" b="b" t="t" l="l"/>
              <a:pathLst>
                <a:path h="6130671" w="11622151">
                  <a:moveTo>
                    <a:pt x="0" y="0"/>
                  </a:moveTo>
                  <a:lnTo>
                    <a:pt x="11622151" y="0"/>
                  </a:lnTo>
                  <a:lnTo>
                    <a:pt x="11622151" y="6130671"/>
                  </a:lnTo>
                  <a:lnTo>
                    <a:pt x="0" y="6130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9741991" y="441275"/>
            <a:ext cx="5421214" cy="5625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87"/>
              </a:lnSpc>
            </a:pPr>
            <a:r>
              <a:rPr lang="en-US" sz="3312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Project Outcomes &amp; Impact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9737229" y="1255365"/>
            <a:ext cx="7957542" cy="2022872"/>
            <a:chOff x="0" y="0"/>
            <a:chExt cx="10610057" cy="2697163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6350" y="6350"/>
              <a:ext cx="10597388" cy="2684526"/>
            </a:xfrm>
            <a:custGeom>
              <a:avLst/>
              <a:gdLst/>
              <a:ahLst/>
              <a:cxnLst/>
              <a:rect r="r" b="b" t="t" l="l"/>
              <a:pathLst>
                <a:path h="2684526" w="10597388">
                  <a:moveTo>
                    <a:pt x="0" y="95758"/>
                  </a:moveTo>
                  <a:cubicBezTo>
                    <a:pt x="0" y="42799"/>
                    <a:pt x="43053" y="0"/>
                    <a:pt x="96012" y="0"/>
                  </a:cubicBezTo>
                  <a:lnTo>
                    <a:pt x="10501376" y="0"/>
                  </a:lnTo>
                  <a:cubicBezTo>
                    <a:pt x="10554462" y="0"/>
                    <a:pt x="10597388" y="42799"/>
                    <a:pt x="10597388" y="95758"/>
                  </a:cubicBezTo>
                  <a:lnTo>
                    <a:pt x="10597388" y="2588768"/>
                  </a:lnTo>
                  <a:cubicBezTo>
                    <a:pt x="10597388" y="2641600"/>
                    <a:pt x="10554335" y="2684526"/>
                    <a:pt x="10501376" y="2684526"/>
                  </a:cubicBezTo>
                  <a:lnTo>
                    <a:pt x="96012" y="2684526"/>
                  </a:lnTo>
                  <a:cubicBezTo>
                    <a:pt x="42926" y="2684526"/>
                    <a:pt x="0" y="2641727"/>
                    <a:pt x="0" y="2588768"/>
                  </a:cubicBezTo>
                  <a:close/>
                </a:path>
              </a:pathLst>
            </a:custGeom>
            <a:solidFill>
              <a:srgbClr val="E1E1EA"/>
            </a:solidFill>
            <a:ln w="12700">
              <a:solidFill>
                <a:srgbClr val="000000"/>
              </a:solidFill>
            </a:ln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610088" cy="2697226"/>
            </a:xfrm>
            <a:custGeom>
              <a:avLst/>
              <a:gdLst/>
              <a:ahLst/>
              <a:cxnLst/>
              <a:rect r="r" b="b" t="t" l="l"/>
              <a:pathLst>
                <a:path h="2697226" w="10610088">
                  <a:moveTo>
                    <a:pt x="0" y="102108"/>
                  </a:moveTo>
                  <a:cubicBezTo>
                    <a:pt x="0" y="45720"/>
                    <a:pt x="45847" y="0"/>
                    <a:pt x="102362" y="0"/>
                  </a:cubicBezTo>
                  <a:lnTo>
                    <a:pt x="10507726" y="0"/>
                  </a:lnTo>
                  <a:lnTo>
                    <a:pt x="10507726" y="6350"/>
                  </a:lnTo>
                  <a:lnTo>
                    <a:pt x="10507726" y="0"/>
                  </a:lnTo>
                  <a:cubicBezTo>
                    <a:pt x="10564241" y="0"/>
                    <a:pt x="10610088" y="45720"/>
                    <a:pt x="10610088" y="102108"/>
                  </a:cubicBezTo>
                  <a:lnTo>
                    <a:pt x="10603738" y="102108"/>
                  </a:lnTo>
                  <a:lnTo>
                    <a:pt x="10610088" y="102108"/>
                  </a:lnTo>
                  <a:lnTo>
                    <a:pt x="10610088" y="2595118"/>
                  </a:lnTo>
                  <a:lnTo>
                    <a:pt x="10603738" y="2595118"/>
                  </a:lnTo>
                  <a:lnTo>
                    <a:pt x="10610088" y="2595118"/>
                  </a:lnTo>
                  <a:cubicBezTo>
                    <a:pt x="10610088" y="2651506"/>
                    <a:pt x="10564241" y="2697226"/>
                    <a:pt x="10507726" y="2697226"/>
                  </a:cubicBezTo>
                  <a:lnTo>
                    <a:pt x="10507726" y="2690876"/>
                  </a:lnTo>
                  <a:lnTo>
                    <a:pt x="10507726" y="2697226"/>
                  </a:lnTo>
                  <a:lnTo>
                    <a:pt x="102362" y="2697226"/>
                  </a:lnTo>
                  <a:lnTo>
                    <a:pt x="102362" y="2690876"/>
                  </a:lnTo>
                  <a:lnTo>
                    <a:pt x="102362" y="2697226"/>
                  </a:lnTo>
                  <a:cubicBezTo>
                    <a:pt x="45847" y="2697226"/>
                    <a:pt x="0" y="2651506"/>
                    <a:pt x="0" y="2595118"/>
                  </a:cubicBezTo>
                  <a:lnTo>
                    <a:pt x="0" y="102108"/>
                  </a:lnTo>
                  <a:lnTo>
                    <a:pt x="6350" y="102108"/>
                  </a:lnTo>
                  <a:lnTo>
                    <a:pt x="0" y="102108"/>
                  </a:lnTo>
                  <a:moveTo>
                    <a:pt x="12700" y="102108"/>
                  </a:moveTo>
                  <a:lnTo>
                    <a:pt x="12700" y="2595118"/>
                  </a:lnTo>
                  <a:lnTo>
                    <a:pt x="6350" y="2595118"/>
                  </a:lnTo>
                  <a:lnTo>
                    <a:pt x="12700" y="2595118"/>
                  </a:lnTo>
                  <a:cubicBezTo>
                    <a:pt x="12700" y="2644394"/>
                    <a:pt x="52832" y="2684526"/>
                    <a:pt x="102362" y="2684526"/>
                  </a:cubicBezTo>
                  <a:lnTo>
                    <a:pt x="10507726" y="2684526"/>
                  </a:lnTo>
                  <a:cubicBezTo>
                    <a:pt x="10557256" y="2684526"/>
                    <a:pt x="10597388" y="2644521"/>
                    <a:pt x="10597388" y="2595118"/>
                  </a:cubicBezTo>
                  <a:lnTo>
                    <a:pt x="10597388" y="102108"/>
                  </a:lnTo>
                  <a:cubicBezTo>
                    <a:pt x="10597388" y="52832"/>
                    <a:pt x="10557256" y="12700"/>
                    <a:pt x="10507726" y="12700"/>
                  </a:cubicBezTo>
                  <a:lnTo>
                    <a:pt x="102362" y="12700"/>
                  </a:lnTo>
                  <a:lnTo>
                    <a:pt x="102362" y="6350"/>
                  </a:lnTo>
                  <a:lnTo>
                    <a:pt x="102362" y="12700"/>
                  </a:lnTo>
                  <a:cubicBezTo>
                    <a:pt x="52832" y="12700"/>
                    <a:pt x="12700" y="52705"/>
                    <a:pt x="12700" y="102108"/>
                  </a:cubicBezTo>
                  <a:close/>
                </a:path>
              </a:pathLst>
            </a:custGeom>
            <a:solidFill>
              <a:srgbClr val="C7C7D0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14" id="14"/>
          <p:cNvGrpSpPr/>
          <p:nvPr/>
        </p:nvGrpSpPr>
        <p:grpSpPr>
          <a:xfrm rot="0">
            <a:off x="9922371" y="1440507"/>
            <a:ext cx="512564" cy="512564"/>
            <a:chOff x="0" y="0"/>
            <a:chExt cx="683418" cy="68341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83387" cy="683387"/>
            </a:xfrm>
            <a:custGeom>
              <a:avLst/>
              <a:gdLst/>
              <a:ahLst/>
              <a:cxnLst/>
              <a:rect r="r" b="b" t="t" l="l"/>
              <a:pathLst>
                <a:path h="683387" w="683387">
                  <a:moveTo>
                    <a:pt x="0" y="341757"/>
                  </a:moveTo>
                  <a:cubicBezTo>
                    <a:pt x="0" y="153035"/>
                    <a:pt x="153035" y="0"/>
                    <a:pt x="341757" y="0"/>
                  </a:cubicBezTo>
                  <a:cubicBezTo>
                    <a:pt x="530479" y="0"/>
                    <a:pt x="683387" y="153035"/>
                    <a:pt x="683387" y="341757"/>
                  </a:cubicBezTo>
                  <a:cubicBezTo>
                    <a:pt x="683387" y="530479"/>
                    <a:pt x="530479" y="683387"/>
                    <a:pt x="341757" y="683387"/>
                  </a:cubicBezTo>
                  <a:cubicBezTo>
                    <a:pt x="153035" y="683387"/>
                    <a:pt x="0" y="530479"/>
                    <a:pt x="0" y="341757"/>
                  </a:cubicBezTo>
                  <a:close/>
                </a:path>
              </a:pathLst>
            </a:custGeom>
            <a:solidFill>
              <a:srgbClr val="1B1B27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Freeform 16" id="16" descr="preencoded.png"/>
          <p:cNvSpPr/>
          <p:nvPr/>
        </p:nvSpPr>
        <p:spPr>
          <a:xfrm flipH="false" flipV="false" rot="0">
            <a:off x="10063311" y="1581299"/>
            <a:ext cx="230684" cy="230684"/>
          </a:xfrm>
          <a:custGeom>
            <a:avLst/>
            <a:gdLst/>
            <a:ahLst/>
            <a:cxnLst/>
            <a:rect r="r" b="b" t="t" l="l"/>
            <a:pathLst>
              <a:path h="230684" w="230684">
                <a:moveTo>
                  <a:pt x="0" y="0"/>
                </a:moveTo>
                <a:lnTo>
                  <a:pt x="230684" y="0"/>
                </a:lnTo>
                <a:lnTo>
                  <a:pt x="230684" y="230683"/>
                </a:lnTo>
                <a:lnTo>
                  <a:pt x="0" y="23068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9922371" y="2095351"/>
            <a:ext cx="2946053" cy="3488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00"/>
              </a:lnSpc>
            </a:pPr>
            <a:r>
              <a:rPr lang="en-US" sz="200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Fully Operational System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9922371" y="2489448"/>
            <a:ext cx="7587257" cy="6036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1312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A complete, working standalone rental management platform successfully built and demonstrated with all core features functioning seamlessly.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9737229" y="3439566"/>
            <a:ext cx="7957542" cy="2022873"/>
            <a:chOff x="0" y="0"/>
            <a:chExt cx="10610057" cy="2697163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6350" y="6350"/>
              <a:ext cx="10597388" cy="2684526"/>
            </a:xfrm>
            <a:custGeom>
              <a:avLst/>
              <a:gdLst/>
              <a:ahLst/>
              <a:cxnLst/>
              <a:rect r="r" b="b" t="t" l="l"/>
              <a:pathLst>
                <a:path h="2684526" w="10597388">
                  <a:moveTo>
                    <a:pt x="0" y="95758"/>
                  </a:moveTo>
                  <a:cubicBezTo>
                    <a:pt x="0" y="42799"/>
                    <a:pt x="43053" y="0"/>
                    <a:pt x="96012" y="0"/>
                  </a:cubicBezTo>
                  <a:lnTo>
                    <a:pt x="10501376" y="0"/>
                  </a:lnTo>
                  <a:cubicBezTo>
                    <a:pt x="10554462" y="0"/>
                    <a:pt x="10597388" y="42799"/>
                    <a:pt x="10597388" y="95758"/>
                  </a:cubicBezTo>
                  <a:lnTo>
                    <a:pt x="10597388" y="2588768"/>
                  </a:lnTo>
                  <a:cubicBezTo>
                    <a:pt x="10597388" y="2641600"/>
                    <a:pt x="10554335" y="2684526"/>
                    <a:pt x="10501376" y="2684526"/>
                  </a:cubicBezTo>
                  <a:lnTo>
                    <a:pt x="96012" y="2684526"/>
                  </a:lnTo>
                  <a:cubicBezTo>
                    <a:pt x="42926" y="2684526"/>
                    <a:pt x="0" y="2641727"/>
                    <a:pt x="0" y="2588768"/>
                  </a:cubicBezTo>
                  <a:close/>
                </a:path>
              </a:pathLst>
            </a:custGeom>
            <a:solidFill>
              <a:srgbClr val="E1E1EA"/>
            </a:solidFill>
            <a:ln w="12700">
              <a:solidFill>
                <a:srgbClr val="000000"/>
              </a:solidFill>
            </a:ln>
          </p:spPr>
        </p:sp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0610088" cy="2697226"/>
            </a:xfrm>
            <a:custGeom>
              <a:avLst/>
              <a:gdLst/>
              <a:ahLst/>
              <a:cxnLst/>
              <a:rect r="r" b="b" t="t" l="l"/>
              <a:pathLst>
                <a:path h="2697226" w="10610088">
                  <a:moveTo>
                    <a:pt x="0" y="102108"/>
                  </a:moveTo>
                  <a:cubicBezTo>
                    <a:pt x="0" y="45720"/>
                    <a:pt x="45847" y="0"/>
                    <a:pt x="102362" y="0"/>
                  </a:cubicBezTo>
                  <a:lnTo>
                    <a:pt x="10507726" y="0"/>
                  </a:lnTo>
                  <a:lnTo>
                    <a:pt x="10507726" y="6350"/>
                  </a:lnTo>
                  <a:lnTo>
                    <a:pt x="10507726" y="0"/>
                  </a:lnTo>
                  <a:cubicBezTo>
                    <a:pt x="10564241" y="0"/>
                    <a:pt x="10610088" y="45720"/>
                    <a:pt x="10610088" y="102108"/>
                  </a:cubicBezTo>
                  <a:lnTo>
                    <a:pt x="10603738" y="102108"/>
                  </a:lnTo>
                  <a:lnTo>
                    <a:pt x="10610088" y="102108"/>
                  </a:lnTo>
                  <a:lnTo>
                    <a:pt x="10610088" y="2595118"/>
                  </a:lnTo>
                  <a:lnTo>
                    <a:pt x="10603738" y="2595118"/>
                  </a:lnTo>
                  <a:lnTo>
                    <a:pt x="10610088" y="2595118"/>
                  </a:lnTo>
                  <a:cubicBezTo>
                    <a:pt x="10610088" y="2651506"/>
                    <a:pt x="10564241" y="2697226"/>
                    <a:pt x="10507726" y="2697226"/>
                  </a:cubicBezTo>
                  <a:lnTo>
                    <a:pt x="10507726" y="2690876"/>
                  </a:lnTo>
                  <a:lnTo>
                    <a:pt x="10507726" y="2697226"/>
                  </a:lnTo>
                  <a:lnTo>
                    <a:pt x="102362" y="2697226"/>
                  </a:lnTo>
                  <a:lnTo>
                    <a:pt x="102362" y="2690876"/>
                  </a:lnTo>
                  <a:lnTo>
                    <a:pt x="102362" y="2697226"/>
                  </a:lnTo>
                  <a:cubicBezTo>
                    <a:pt x="45847" y="2697226"/>
                    <a:pt x="0" y="2651506"/>
                    <a:pt x="0" y="2595118"/>
                  </a:cubicBezTo>
                  <a:lnTo>
                    <a:pt x="0" y="102108"/>
                  </a:lnTo>
                  <a:lnTo>
                    <a:pt x="6350" y="102108"/>
                  </a:lnTo>
                  <a:lnTo>
                    <a:pt x="0" y="102108"/>
                  </a:lnTo>
                  <a:moveTo>
                    <a:pt x="12700" y="102108"/>
                  </a:moveTo>
                  <a:lnTo>
                    <a:pt x="12700" y="2595118"/>
                  </a:lnTo>
                  <a:lnTo>
                    <a:pt x="6350" y="2595118"/>
                  </a:lnTo>
                  <a:lnTo>
                    <a:pt x="12700" y="2595118"/>
                  </a:lnTo>
                  <a:cubicBezTo>
                    <a:pt x="12700" y="2644394"/>
                    <a:pt x="52832" y="2684526"/>
                    <a:pt x="102362" y="2684526"/>
                  </a:cubicBezTo>
                  <a:lnTo>
                    <a:pt x="10507726" y="2684526"/>
                  </a:lnTo>
                  <a:cubicBezTo>
                    <a:pt x="10557256" y="2684526"/>
                    <a:pt x="10597388" y="2644521"/>
                    <a:pt x="10597388" y="2595118"/>
                  </a:cubicBezTo>
                  <a:lnTo>
                    <a:pt x="10597388" y="102108"/>
                  </a:lnTo>
                  <a:cubicBezTo>
                    <a:pt x="10597388" y="52832"/>
                    <a:pt x="10557256" y="12700"/>
                    <a:pt x="10507726" y="12700"/>
                  </a:cubicBezTo>
                  <a:lnTo>
                    <a:pt x="102362" y="12700"/>
                  </a:lnTo>
                  <a:lnTo>
                    <a:pt x="102362" y="6350"/>
                  </a:lnTo>
                  <a:lnTo>
                    <a:pt x="102362" y="12700"/>
                  </a:lnTo>
                  <a:cubicBezTo>
                    <a:pt x="52832" y="12700"/>
                    <a:pt x="12700" y="52705"/>
                    <a:pt x="12700" y="102108"/>
                  </a:cubicBezTo>
                  <a:close/>
                </a:path>
              </a:pathLst>
            </a:custGeom>
            <a:solidFill>
              <a:srgbClr val="C7C7D0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9922371" y="3624709"/>
            <a:ext cx="512564" cy="512564"/>
            <a:chOff x="0" y="0"/>
            <a:chExt cx="683418" cy="683418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683387" cy="683387"/>
            </a:xfrm>
            <a:custGeom>
              <a:avLst/>
              <a:gdLst/>
              <a:ahLst/>
              <a:cxnLst/>
              <a:rect r="r" b="b" t="t" l="l"/>
              <a:pathLst>
                <a:path h="683387" w="683387">
                  <a:moveTo>
                    <a:pt x="0" y="341757"/>
                  </a:moveTo>
                  <a:cubicBezTo>
                    <a:pt x="0" y="153035"/>
                    <a:pt x="153035" y="0"/>
                    <a:pt x="341757" y="0"/>
                  </a:cubicBezTo>
                  <a:cubicBezTo>
                    <a:pt x="530479" y="0"/>
                    <a:pt x="683387" y="153035"/>
                    <a:pt x="683387" y="341757"/>
                  </a:cubicBezTo>
                  <a:cubicBezTo>
                    <a:pt x="683387" y="530479"/>
                    <a:pt x="530479" y="683387"/>
                    <a:pt x="341757" y="683387"/>
                  </a:cubicBezTo>
                  <a:cubicBezTo>
                    <a:pt x="153035" y="683387"/>
                    <a:pt x="0" y="530479"/>
                    <a:pt x="0" y="341757"/>
                  </a:cubicBezTo>
                  <a:close/>
                </a:path>
              </a:pathLst>
            </a:custGeom>
            <a:solidFill>
              <a:srgbClr val="1B1B27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Freeform 24" id="24" descr="preencoded.png"/>
          <p:cNvSpPr/>
          <p:nvPr/>
        </p:nvSpPr>
        <p:spPr>
          <a:xfrm flipH="false" flipV="false" rot="0">
            <a:off x="10063311" y="3765500"/>
            <a:ext cx="230684" cy="230684"/>
          </a:xfrm>
          <a:custGeom>
            <a:avLst/>
            <a:gdLst/>
            <a:ahLst/>
            <a:cxnLst/>
            <a:rect r="r" b="b" t="t" l="l"/>
            <a:pathLst>
              <a:path h="230684" w="230684">
                <a:moveTo>
                  <a:pt x="0" y="0"/>
                </a:moveTo>
                <a:lnTo>
                  <a:pt x="230684" y="0"/>
                </a:lnTo>
                <a:lnTo>
                  <a:pt x="230684" y="230684"/>
                </a:lnTo>
                <a:lnTo>
                  <a:pt x="0" y="23068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6000" t="0" r="-6000" b="0"/>
            </a:stretch>
          </a:blipFill>
        </p:spPr>
      </p:sp>
      <p:sp>
        <p:nvSpPr>
          <p:cNvPr name="TextBox 25" id="25"/>
          <p:cNvSpPr txBox="true"/>
          <p:nvPr/>
        </p:nvSpPr>
        <p:spPr>
          <a:xfrm rot="0">
            <a:off x="9922371" y="4279552"/>
            <a:ext cx="2807345" cy="3488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00"/>
              </a:lnSpc>
            </a:pPr>
            <a:r>
              <a:rPr lang="en-US" sz="200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Operational Automation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922371" y="4673650"/>
            <a:ext cx="7587257" cy="6036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1312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The application automates rental operations end-to-end, significantly reducing manual effort and eliminating repetitive administrative tasks.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9737229" y="5623769"/>
            <a:ext cx="7957542" cy="2022872"/>
            <a:chOff x="0" y="0"/>
            <a:chExt cx="10610057" cy="2697163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6350" y="6350"/>
              <a:ext cx="10597388" cy="2684526"/>
            </a:xfrm>
            <a:custGeom>
              <a:avLst/>
              <a:gdLst/>
              <a:ahLst/>
              <a:cxnLst/>
              <a:rect r="r" b="b" t="t" l="l"/>
              <a:pathLst>
                <a:path h="2684526" w="10597388">
                  <a:moveTo>
                    <a:pt x="0" y="95758"/>
                  </a:moveTo>
                  <a:cubicBezTo>
                    <a:pt x="0" y="42799"/>
                    <a:pt x="43053" y="0"/>
                    <a:pt x="96012" y="0"/>
                  </a:cubicBezTo>
                  <a:lnTo>
                    <a:pt x="10501376" y="0"/>
                  </a:lnTo>
                  <a:cubicBezTo>
                    <a:pt x="10554462" y="0"/>
                    <a:pt x="10597388" y="42799"/>
                    <a:pt x="10597388" y="95758"/>
                  </a:cubicBezTo>
                  <a:lnTo>
                    <a:pt x="10597388" y="2588768"/>
                  </a:lnTo>
                  <a:cubicBezTo>
                    <a:pt x="10597388" y="2641600"/>
                    <a:pt x="10554335" y="2684526"/>
                    <a:pt x="10501376" y="2684526"/>
                  </a:cubicBezTo>
                  <a:lnTo>
                    <a:pt x="96012" y="2684526"/>
                  </a:lnTo>
                  <a:cubicBezTo>
                    <a:pt x="42926" y="2684526"/>
                    <a:pt x="0" y="2641727"/>
                    <a:pt x="0" y="2588768"/>
                  </a:cubicBezTo>
                  <a:close/>
                </a:path>
              </a:pathLst>
            </a:custGeom>
            <a:solidFill>
              <a:srgbClr val="E1E1EA"/>
            </a:solidFill>
            <a:ln w="12700">
              <a:solidFill>
                <a:srgbClr val="000000"/>
              </a:solidFill>
            </a:ln>
          </p:spPr>
        </p:sp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0610088" cy="2697226"/>
            </a:xfrm>
            <a:custGeom>
              <a:avLst/>
              <a:gdLst/>
              <a:ahLst/>
              <a:cxnLst/>
              <a:rect r="r" b="b" t="t" l="l"/>
              <a:pathLst>
                <a:path h="2697226" w="10610088">
                  <a:moveTo>
                    <a:pt x="0" y="102108"/>
                  </a:moveTo>
                  <a:cubicBezTo>
                    <a:pt x="0" y="45720"/>
                    <a:pt x="45847" y="0"/>
                    <a:pt x="102362" y="0"/>
                  </a:cubicBezTo>
                  <a:lnTo>
                    <a:pt x="10507726" y="0"/>
                  </a:lnTo>
                  <a:lnTo>
                    <a:pt x="10507726" y="6350"/>
                  </a:lnTo>
                  <a:lnTo>
                    <a:pt x="10507726" y="0"/>
                  </a:lnTo>
                  <a:cubicBezTo>
                    <a:pt x="10564241" y="0"/>
                    <a:pt x="10610088" y="45720"/>
                    <a:pt x="10610088" y="102108"/>
                  </a:cubicBezTo>
                  <a:lnTo>
                    <a:pt x="10603738" y="102108"/>
                  </a:lnTo>
                  <a:lnTo>
                    <a:pt x="10610088" y="102108"/>
                  </a:lnTo>
                  <a:lnTo>
                    <a:pt x="10610088" y="2595118"/>
                  </a:lnTo>
                  <a:lnTo>
                    <a:pt x="10603738" y="2595118"/>
                  </a:lnTo>
                  <a:lnTo>
                    <a:pt x="10610088" y="2595118"/>
                  </a:lnTo>
                  <a:cubicBezTo>
                    <a:pt x="10610088" y="2651506"/>
                    <a:pt x="10564241" y="2697226"/>
                    <a:pt x="10507726" y="2697226"/>
                  </a:cubicBezTo>
                  <a:lnTo>
                    <a:pt x="10507726" y="2690876"/>
                  </a:lnTo>
                  <a:lnTo>
                    <a:pt x="10507726" y="2697226"/>
                  </a:lnTo>
                  <a:lnTo>
                    <a:pt x="102362" y="2697226"/>
                  </a:lnTo>
                  <a:lnTo>
                    <a:pt x="102362" y="2690876"/>
                  </a:lnTo>
                  <a:lnTo>
                    <a:pt x="102362" y="2697226"/>
                  </a:lnTo>
                  <a:cubicBezTo>
                    <a:pt x="45847" y="2697226"/>
                    <a:pt x="0" y="2651506"/>
                    <a:pt x="0" y="2595118"/>
                  </a:cubicBezTo>
                  <a:lnTo>
                    <a:pt x="0" y="102108"/>
                  </a:lnTo>
                  <a:lnTo>
                    <a:pt x="6350" y="102108"/>
                  </a:lnTo>
                  <a:lnTo>
                    <a:pt x="0" y="102108"/>
                  </a:lnTo>
                  <a:moveTo>
                    <a:pt x="12700" y="102108"/>
                  </a:moveTo>
                  <a:lnTo>
                    <a:pt x="12700" y="2595118"/>
                  </a:lnTo>
                  <a:lnTo>
                    <a:pt x="6350" y="2595118"/>
                  </a:lnTo>
                  <a:lnTo>
                    <a:pt x="12700" y="2595118"/>
                  </a:lnTo>
                  <a:cubicBezTo>
                    <a:pt x="12700" y="2644394"/>
                    <a:pt x="52832" y="2684526"/>
                    <a:pt x="102362" y="2684526"/>
                  </a:cubicBezTo>
                  <a:lnTo>
                    <a:pt x="10507726" y="2684526"/>
                  </a:lnTo>
                  <a:cubicBezTo>
                    <a:pt x="10557256" y="2684526"/>
                    <a:pt x="10597388" y="2644521"/>
                    <a:pt x="10597388" y="2595118"/>
                  </a:cubicBezTo>
                  <a:lnTo>
                    <a:pt x="10597388" y="102108"/>
                  </a:lnTo>
                  <a:cubicBezTo>
                    <a:pt x="10597388" y="52832"/>
                    <a:pt x="10557256" y="12700"/>
                    <a:pt x="10507726" y="12700"/>
                  </a:cubicBezTo>
                  <a:lnTo>
                    <a:pt x="102362" y="12700"/>
                  </a:lnTo>
                  <a:lnTo>
                    <a:pt x="102362" y="6350"/>
                  </a:lnTo>
                  <a:lnTo>
                    <a:pt x="102362" y="12700"/>
                  </a:lnTo>
                  <a:cubicBezTo>
                    <a:pt x="52832" y="12700"/>
                    <a:pt x="12700" y="52705"/>
                    <a:pt x="12700" y="102108"/>
                  </a:cubicBezTo>
                  <a:close/>
                </a:path>
              </a:pathLst>
            </a:custGeom>
            <a:solidFill>
              <a:srgbClr val="C7C7D0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9922371" y="5808910"/>
            <a:ext cx="512564" cy="512564"/>
            <a:chOff x="0" y="0"/>
            <a:chExt cx="683418" cy="683418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683387" cy="683387"/>
            </a:xfrm>
            <a:custGeom>
              <a:avLst/>
              <a:gdLst/>
              <a:ahLst/>
              <a:cxnLst/>
              <a:rect r="r" b="b" t="t" l="l"/>
              <a:pathLst>
                <a:path h="683387" w="683387">
                  <a:moveTo>
                    <a:pt x="0" y="341757"/>
                  </a:moveTo>
                  <a:cubicBezTo>
                    <a:pt x="0" y="153035"/>
                    <a:pt x="153035" y="0"/>
                    <a:pt x="341757" y="0"/>
                  </a:cubicBezTo>
                  <a:cubicBezTo>
                    <a:pt x="530479" y="0"/>
                    <a:pt x="683387" y="153035"/>
                    <a:pt x="683387" y="341757"/>
                  </a:cubicBezTo>
                  <a:cubicBezTo>
                    <a:pt x="683387" y="530479"/>
                    <a:pt x="530479" y="683387"/>
                    <a:pt x="341757" y="683387"/>
                  </a:cubicBezTo>
                  <a:cubicBezTo>
                    <a:pt x="153035" y="683387"/>
                    <a:pt x="0" y="530479"/>
                    <a:pt x="0" y="341757"/>
                  </a:cubicBezTo>
                  <a:close/>
                </a:path>
              </a:pathLst>
            </a:custGeom>
            <a:solidFill>
              <a:srgbClr val="1B1B27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Freeform 32" id="32" descr="preencoded.png"/>
          <p:cNvSpPr/>
          <p:nvPr/>
        </p:nvSpPr>
        <p:spPr>
          <a:xfrm flipH="false" flipV="false" rot="0">
            <a:off x="10063311" y="5949702"/>
            <a:ext cx="230684" cy="230684"/>
          </a:xfrm>
          <a:custGeom>
            <a:avLst/>
            <a:gdLst/>
            <a:ahLst/>
            <a:cxnLst/>
            <a:rect r="r" b="b" t="t" l="l"/>
            <a:pathLst>
              <a:path h="230684" w="230684">
                <a:moveTo>
                  <a:pt x="0" y="0"/>
                </a:moveTo>
                <a:lnTo>
                  <a:pt x="230684" y="0"/>
                </a:lnTo>
                <a:lnTo>
                  <a:pt x="230684" y="230684"/>
                </a:lnTo>
                <a:lnTo>
                  <a:pt x="0" y="23068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3" id="33"/>
          <p:cNvSpPr txBox="true"/>
          <p:nvPr/>
        </p:nvSpPr>
        <p:spPr>
          <a:xfrm rot="0">
            <a:off x="9922371" y="6463754"/>
            <a:ext cx="2563266" cy="3488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00"/>
              </a:lnSpc>
            </a:pPr>
            <a:r>
              <a:rPr lang="en-US" sz="200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Scalable Architecture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9922371" y="6857851"/>
            <a:ext cx="7587257" cy="6036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1312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Modular design allows for continuous improvements, feature additions, and seamless scaling to accommodate business growth.</a:t>
            </a:r>
          </a:p>
        </p:txBody>
      </p:sp>
      <p:grpSp>
        <p:nvGrpSpPr>
          <p:cNvPr name="Group 35" id="35"/>
          <p:cNvGrpSpPr/>
          <p:nvPr/>
        </p:nvGrpSpPr>
        <p:grpSpPr>
          <a:xfrm rot="0">
            <a:off x="9737229" y="7807970"/>
            <a:ext cx="7957542" cy="2022872"/>
            <a:chOff x="0" y="0"/>
            <a:chExt cx="10610057" cy="2697163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6350" y="6350"/>
              <a:ext cx="10597388" cy="2684526"/>
            </a:xfrm>
            <a:custGeom>
              <a:avLst/>
              <a:gdLst/>
              <a:ahLst/>
              <a:cxnLst/>
              <a:rect r="r" b="b" t="t" l="l"/>
              <a:pathLst>
                <a:path h="2684526" w="10597388">
                  <a:moveTo>
                    <a:pt x="0" y="95758"/>
                  </a:moveTo>
                  <a:cubicBezTo>
                    <a:pt x="0" y="42799"/>
                    <a:pt x="43053" y="0"/>
                    <a:pt x="96012" y="0"/>
                  </a:cubicBezTo>
                  <a:lnTo>
                    <a:pt x="10501376" y="0"/>
                  </a:lnTo>
                  <a:cubicBezTo>
                    <a:pt x="10554462" y="0"/>
                    <a:pt x="10597388" y="42799"/>
                    <a:pt x="10597388" y="95758"/>
                  </a:cubicBezTo>
                  <a:lnTo>
                    <a:pt x="10597388" y="2588768"/>
                  </a:lnTo>
                  <a:cubicBezTo>
                    <a:pt x="10597388" y="2641600"/>
                    <a:pt x="10554335" y="2684526"/>
                    <a:pt x="10501376" y="2684526"/>
                  </a:cubicBezTo>
                  <a:lnTo>
                    <a:pt x="96012" y="2684526"/>
                  </a:lnTo>
                  <a:cubicBezTo>
                    <a:pt x="42926" y="2684526"/>
                    <a:pt x="0" y="2641727"/>
                    <a:pt x="0" y="2588768"/>
                  </a:cubicBezTo>
                  <a:close/>
                </a:path>
              </a:pathLst>
            </a:custGeom>
            <a:solidFill>
              <a:srgbClr val="E1E1EA"/>
            </a:solidFill>
            <a:ln w="12700">
              <a:solidFill>
                <a:srgbClr val="000000"/>
              </a:solidFill>
            </a:ln>
          </p:spPr>
        </p:sp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0610088" cy="2697226"/>
            </a:xfrm>
            <a:custGeom>
              <a:avLst/>
              <a:gdLst/>
              <a:ahLst/>
              <a:cxnLst/>
              <a:rect r="r" b="b" t="t" l="l"/>
              <a:pathLst>
                <a:path h="2697226" w="10610088">
                  <a:moveTo>
                    <a:pt x="0" y="102108"/>
                  </a:moveTo>
                  <a:cubicBezTo>
                    <a:pt x="0" y="45720"/>
                    <a:pt x="45847" y="0"/>
                    <a:pt x="102362" y="0"/>
                  </a:cubicBezTo>
                  <a:lnTo>
                    <a:pt x="10507726" y="0"/>
                  </a:lnTo>
                  <a:lnTo>
                    <a:pt x="10507726" y="6350"/>
                  </a:lnTo>
                  <a:lnTo>
                    <a:pt x="10507726" y="0"/>
                  </a:lnTo>
                  <a:cubicBezTo>
                    <a:pt x="10564241" y="0"/>
                    <a:pt x="10610088" y="45720"/>
                    <a:pt x="10610088" y="102108"/>
                  </a:cubicBezTo>
                  <a:lnTo>
                    <a:pt x="10603738" y="102108"/>
                  </a:lnTo>
                  <a:lnTo>
                    <a:pt x="10610088" y="102108"/>
                  </a:lnTo>
                  <a:lnTo>
                    <a:pt x="10610088" y="2595118"/>
                  </a:lnTo>
                  <a:lnTo>
                    <a:pt x="10603738" y="2595118"/>
                  </a:lnTo>
                  <a:lnTo>
                    <a:pt x="10610088" y="2595118"/>
                  </a:lnTo>
                  <a:cubicBezTo>
                    <a:pt x="10610088" y="2651506"/>
                    <a:pt x="10564241" y="2697226"/>
                    <a:pt x="10507726" y="2697226"/>
                  </a:cubicBezTo>
                  <a:lnTo>
                    <a:pt x="10507726" y="2690876"/>
                  </a:lnTo>
                  <a:lnTo>
                    <a:pt x="10507726" y="2697226"/>
                  </a:lnTo>
                  <a:lnTo>
                    <a:pt x="102362" y="2697226"/>
                  </a:lnTo>
                  <a:lnTo>
                    <a:pt x="102362" y="2690876"/>
                  </a:lnTo>
                  <a:lnTo>
                    <a:pt x="102362" y="2697226"/>
                  </a:lnTo>
                  <a:cubicBezTo>
                    <a:pt x="45847" y="2697226"/>
                    <a:pt x="0" y="2651506"/>
                    <a:pt x="0" y="2595118"/>
                  </a:cubicBezTo>
                  <a:lnTo>
                    <a:pt x="0" y="102108"/>
                  </a:lnTo>
                  <a:lnTo>
                    <a:pt x="6350" y="102108"/>
                  </a:lnTo>
                  <a:lnTo>
                    <a:pt x="0" y="102108"/>
                  </a:lnTo>
                  <a:moveTo>
                    <a:pt x="12700" y="102108"/>
                  </a:moveTo>
                  <a:lnTo>
                    <a:pt x="12700" y="2595118"/>
                  </a:lnTo>
                  <a:lnTo>
                    <a:pt x="6350" y="2595118"/>
                  </a:lnTo>
                  <a:lnTo>
                    <a:pt x="12700" y="2595118"/>
                  </a:lnTo>
                  <a:cubicBezTo>
                    <a:pt x="12700" y="2644394"/>
                    <a:pt x="52832" y="2684526"/>
                    <a:pt x="102362" y="2684526"/>
                  </a:cubicBezTo>
                  <a:lnTo>
                    <a:pt x="10507726" y="2684526"/>
                  </a:lnTo>
                  <a:cubicBezTo>
                    <a:pt x="10557256" y="2684526"/>
                    <a:pt x="10597388" y="2644521"/>
                    <a:pt x="10597388" y="2595118"/>
                  </a:cubicBezTo>
                  <a:lnTo>
                    <a:pt x="10597388" y="102108"/>
                  </a:lnTo>
                  <a:cubicBezTo>
                    <a:pt x="10597388" y="52832"/>
                    <a:pt x="10557256" y="12700"/>
                    <a:pt x="10507726" y="12700"/>
                  </a:cubicBezTo>
                  <a:lnTo>
                    <a:pt x="102362" y="12700"/>
                  </a:lnTo>
                  <a:lnTo>
                    <a:pt x="102362" y="6350"/>
                  </a:lnTo>
                  <a:lnTo>
                    <a:pt x="102362" y="12700"/>
                  </a:lnTo>
                  <a:cubicBezTo>
                    <a:pt x="52832" y="12700"/>
                    <a:pt x="12700" y="52705"/>
                    <a:pt x="12700" y="102108"/>
                  </a:cubicBezTo>
                  <a:close/>
                </a:path>
              </a:pathLst>
            </a:custGeom>
            <a:solidFill>
              <a:srgbClr val="C7C7D0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38" id="38"/>
          <p:cNvGrpSpPr/>
          <p:nvPr/>
        </p:nvGrpSpPr>
        <p:grpSpPr>
          <a:xfrm rot="0">
            <a:off x="9922371" y="7993112"/>
            <a:ext cx="512564" cy="512564"/>
            <a:chOff x="0" y="0"/>
            <a:chExt cx="683418" cy="683418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683387" cy="683387"/>
            </a:xfrm>
            <a:custGeom>
              <a:avLst/>
              <a:gdLst/>
              <a:ahLst/>
              <a:cxnLst/>
              <a:rect r="r" b="b" t="t" l="l"/>
              <a:pathLst>
                <a:path h="683387" w="683387">
                  <a:moveTo>
                    <a:pt x="0" y="341757"/>
                  </a:moveTo>
                  <a:cubicBezTo>
                    <a:pt x="0" y="153035"/>
                    <a:pt x="153035" y="0"/>
                    <a:pt x="341757" y="0"/>
                  </a:cubicBezTo>
                  <a:cubicBezTo>
                    <a:pt x="530479" y="0"/>
                    <a:pt x="683387" y="153035"/>
                    <a:pt x="683387" y="341757"/>
                  </a:cubicBezTo>
                  <a:cubicBezTo>
                    <a:pt x="683387" y="530479"/>
                    <a:pt x="530479" y="683387"/>
                    <a:pt x="341757" y="683387"/>
                  </a:cubicBezTo>
                  <a:cubicBezTo>
                    <a:pt x="153035" y="683387"/>
                    <a:pt x="0" y="530479"/>
                    <a:pt x="0" y="341757"/>
                  </a:cubicBezTo>
                  <a:close/>
                </a:path>
              </a:pathLst>
            </a:custGeom>
            <a:solidFill>
              <a:srgbClr val="1B1B27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Freeform 40" id="40" descr="preencoded.png"/>
          <p:cNvSpPr/>
          <p:nvPr/>
        </p:nvSpPr>
        <p:spPr>
          <a:xfrm flipH="false" flipV="false" rot="0">
            <a:off x="10063311" y="8133904"/>
            <a:ext cx="230684" cy="230684"/>
          </a:xfrm>
          <a:custGeom>
            <a:avLst/>
            <a:gdLst/>
            <a:ahLst/>
            <a:cxnLst/>
            <a:rect r="r" b="b" t="t" l="l"/>
            <a:pathLst>
              <a:path h="230684" w="230684">
                <a:moveTo>
                  <a:pt x="0" y="0"/>
                </a:moveTo>
                <a:lnTo>
                  <a:pt x="230684" y="0"/>
                </a:lnTo>
                <a:lnTo>
                  <a:pt x="230684" y="230684"/>
                </a:lnTo>
                <a:lnTo>
                  <a:pt x="0" y="230684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-16000" t="0" r="-16000" b="0"/>
            </a:stretch>
          </a:blipFill>
        </p:spPr>
      </p:sp>
      <p:sp>
        <p:nvSpPr>
          <p:cNvPr name="TextBox 41" id="41"/>
          <p:cNvSpPr txBox="true"/>
          <p:nvPr/>
        </p:nvSpPr>
        <p:spPr>
          <a:xfrm rot="0">
            <a:off x="9922371" y="8647956"/>
            <a:ext cx="2875509" cy="3488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00"/>
              </a:lnSpc>
            </a:pPr>
            <a:r>
              <a:rPr lang="en-US" sz="200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Learning Objectives Met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9922371" y="9042052"/>
            <a:ext cx="7587257" cy="6036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1312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The project successfully fulfills all expected learning outcomes for CSCI 6991 Data Engineering Capstone course requirements.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CECF3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6" id="6"/>
          <p:cNvSpPr txBox="true"/>
          <p:nvPr/>
        </p:nvSpPr>
        <p:spPr>
          <a:xfrm rot="0">
            <a:off x="833140" y="617190"/>
            <a:ext cx="9427518" cy="7819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12"/>
              </a:lnSpc>
            </a:pPr>
            <a:r>
              <a:rPr lang="en-US" sz="4625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Future Enhancements &amp; Roadmap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9129712" y="1875235"/>
            <a:ext cx="28575" cy="7107734"/>
            <a:chOff x="0" y="0"/>
            <a:chExt cx="38100" cy="947697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38100" cy="9476994"/>
            </a:xfrm>
            <a:custGeom>
              <a:avLst/>
              <a:gdLst/>
              <a:ahLst/>
              <a:cxnLst/>
              <a:rect r="r" b="b" t="t" l="l"/>
              <a:pathLst>
                <a:path h="9476994" w="38100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cubicBezTo>
                    <a:pt x="29591" y="0"/>
                    <a:pt x="38100" y="8509"/>
                    <a:pt x="38100" y="19050"/>
                  </a:cubicBezTo>
                  <a:lnTo>
                    <a:pt x="38100" y="9457944"/>
                  </a:lnTo>
                  <a:cubicBezTo>
                    <a:pt x="38100" y="9468485"/>
                    <a:pt x="29591" y="9476994"/>
                    <a:pt x="19050" y="9476994"/>
                  </a:cubicBezTo>
                  <a:cubicBezTo>
                    <a:pt x="8509" y="9476994"/>
                    <a:pt x="0" y="9468485"/>
                    <a:pt x="0" y="9457944"/>
                  </a:cubicBezTo>
                  <a:close/>
                </a:path>
              </a:pathLst>
            </a:custGeom>
            <a:solidFill>
              <a:srgbClr val="C7C7D0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8190681" y="2128689"/>
            <a:ext cx="714078" cy="28575"/>
            <a:chOff x="0" y="0"/>
            <a:chExt cx="952103" cy="381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952119" cy="38100"/>
            </a:xfrm>
            <a:custGeom>
              <a:avLst/>
              <a:gdLst/>
              <a:ahLst/>
              <a:cxnLst/>
              <a:rect r="r" b="b" t="t" l="l"/>
              <a:pathLst>
                <a:path h="38100" w="952119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lnTo>
                    <a:pt x="933069" y="0"/>
                  </a:lnTo>
                  <a:cubicBezTo>
                    <a:pt x="943610" y="0"/>
                    <a:pt x="952119" y="8509"/>
                    <a:pt x="952119" y="19050"/>
                  </a:cubicBezTo>
                  <a:cubicBezTo>
                    <a:pt x="952119" y="29591"/>
                    <a:pt x="943610" y="38100"/>
                    <a:pt x="933069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lose/>
                </a:path>
              </a:pathLst>
            </a:custGeom>
            <a:solidFill>
              <a:srgbClr val="C7C7D0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8871421" y="1870472"/>
            <a:ext cx="545157" cy="545158"/>
            <a:chOff x="0" y="0"/>
            <a:chExt cx="726877" cy="72687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6350" y="6350"/>
              <a:ext cx="714248" cy="714248"/>
            </a:xfrm>
            <a:custGeom>
              <a:avLst/>
              <a:gdLst/>
              <a:ahLst/>
              <a:cxnLst/>
              <a:rect r="r" b="b" t="t" l="l"/>
              <a:pathLst>
                <a:path h="714248" w="714248">
                  <a:moveTo>
                    <a:pt x="0" y="133350"/>
                  </a:moveTo>
                  <a:cubicBezTo>
                    <a:pt x="0" y="59690"/>
                    <a:pt x="59690" y="0"/>
                    <a:pt x="133350" y="0"/>
                  </a:cubicBezTo>
                  <a:lnTo>
                    <a:pt x="580898" y="0"/>
                  </a:lnTo>
                  <a:cubicBezTo>
                    <a:pt x="654558" y="0"/>
                    <a:pt x="714248" y="59690"/>
                    <a:pt x="714248" y="133350"/>
                  </a:cubicBezTo>
                  <a:lnTo>
                    <a:pt x="714248" y="580898"/>
                  </a:lnTo>
                  <a:cubicBezTo>
                    <a:pt x="714248" y="654558"/>
                    <a:pt x="654558" y="714248"/>
                    <a:pt x="580898" y="714248"/>
                  </a:cubicBezTo>
                  <a:lnTo>
                    <a:pt x="133350" y="714248"/>
                  </a:lnTo>
                  <a:cubicBezTo>
                    <a:pt x="59690" y="714121"/>
                    <a:pt x="0" y="654431"/>
                    <a:pt x="0" y="580898"/>
                  </a:cubicBezTo>
                  <a:close/>
                </a:path>
              </a:pathLst>
            </a:custGeom>
            <a:solidFill>
              <a:srgbClr val="E1E1EA"/>
            </a:solidFill>
            <a:ln w="12700">
              <a:solidFill>
                <a:srgbClr val="000000"/>
              </a:solidFill>
            </a:ln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26948" cy="726948"/>
            </a:xfrm>
            <a:custGeom>
              <a:avLst/>
              <a:gdLst/>
              <a:ahLst/>
              <a:cxnLst/>
              <a:rect r="r" b="b" t="t" l="l"/>
              <a:pathLst>
                <a:path h="726948" w="726948">
                  <a:moveTo>
                    <a:pt x="0" y="139700"/>
                  </a:moveTo>
                  <a:cubicBezTo>
                    <a:pt x="0" y="62484"/>
                    <a:pt x="62484" y="0"/>
                    <a:pt x="139700" y="0"/>
                  </a:cubicBezTo>
                  <a:lnTo>
                    <a:pt x="587248" y="0"/>
                  </a:lnTo>
                  <a:lnTo>
                    <a:pt x="587248" y="6350"/>
                  </a:lnTo>
                  <a:lnTo>
                    <a:pt x="587248" y="0"/>
                  </a:lnTo>
                  <a:cubicBezTo>
                    <a:pt x="664337" y="0"/>
                    <a:pt x="726948" y="62484"/>
                    <a:pt x="726948" y="139700"/>
                  </a:cubicBezTo>
                  <a:lnTo>
                    <a:pt x="720598" y="139700"/>
                  </a:lnTo>
                  <a:lnTo>
                    <a:pt x="726948" y="139700"/>
                  </a:lnTo>
                  <a:lnTo>
                    <a:pt x="726948" y="587248"/>
                  </a:lnTo>
                  <a:lnTo>
                    <a:pt x="720598" y="587248"/>
                  </a:lnTo>
                  <a:lnTo>
                    <a:pt x="726948" y="587248"/>
                  </a:lnTo>
                  <a:cubicBezTo>
                    <a:pt x="726948" y="664337"/>
                    <a:pt x="664464" y="726948"/>
                    <a:pt x="587248" y="726948"/>
                  </a:cubicBezTo>
                  <a:lnTo>
                    <a:pt x="587248" y="720598"/>
                  </a:lnTo>
                  <a:lnTo>
                    <a:pt x="587248" y="726948"/>
                  </a:lnTo>
                  <a:lnTo>
                    <a:pt x="139700" y="726948"/>
                  </a:lnTo>
                  <a:lnTo>
                    <a:pt x="139700" y="720598"/>
                  </a:lnTo>
                  <a:lnTo>
                    <a:pt x="139700" y="726948"/>
                  </a:lnTo>
                  <a:cubicBezTo>
                    <a:pt x="62611" y="726948"/>
                    <a:pt x="0" y="664464"/>
                    <a:pt x="0" y="587248"/>
                  </a:cubicBezTo>
                  <a:lnTo>
                    <a:pt x="0" y="139700"/>
                  </a:lnTo>
                  <a:lnTo>
                    <a:pt x="6350" y="139700"/>
                  </a:lnTo>
                  <a:lnTo>
                    <a:pt x="0" y="139700"/>
                  </a:lnTo>
                  <a:moveTo>
                    <a:pt x="12700" y="139700"/>
                  </a:moveTo>
                  <a:lnTo>
                    <a:pt x="12700" y="587248"/>
                  </a:lnTo>
                  <a:lnTo>
                    <a:pt x="6350" y="587248"/>
                  </a:lnTo>
                  <a:lnTo>
                    <a:pt x="12700" y="587248"/>
                  </a:lnTo>
                  <a:cubicBezTo>
                    <a:pt x="12700" y="657352"/>
                    <a:pt x="69596" y="714248"/>
                    <a:pt x="139700" y="714248"/>
                  </a:cubicBezTo>
                  <a:lnTo>
                    <a:pt x="587248" y="714248"/>
                  </a:lnTo>
                  <a:cubicBezTo>
                    <a:pt x="657352" y="714248"/>
                    <a:pt x="714248" y="657352"/>
                    <a:pt x="714248" y="587248"/>
                  </a:cubicBezTo>
                  <a:lnTo>
                    <a:pt x="714248" y="139700"/>
                  </a:lnTo>
                  <a:cubicBezTo>
                    <a:pt x="714248" y="69596"/>
                    <a:pt x="657352" y="12700"/>
                    <a:pt x="587248" y="12700"/>
                  </a:cubicBezTo>
                  <a:lnTo>
                    <a:pt x="139700" y="12700"/>
                  </a:lnTo>
                  <a:lnTo>
                    <a:pt x="139700" y="6350"/>
                  </a:lnTo>
                  <a:lnTo>
                    <a:pt x="139700" y="12700"/>
                  </a:lnTo>
                  <a:cubicBezTo>
                    <a:pt x="69596" y="12700"/>
                    <a:pt x="12700" y="69596"/>
                    <a:pt x="12700" y="139700"/>
                  </a:cubicBezTo>
                  <a:close/>
                </a:path>
              </a:pathLst>
            </a:custGeom>
            <a:solidFill>
              <a:srgbClr val="C7C7D0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14" id="14"/>
          <p:cNvSpPr txBox="true"/>
          <p:nvPr/>
        </p:nvSpPr>
        <p:spPr>
          <a:xfrm rot="0">
            <a:off x="8965406" y="1957909"/>
            <a:ext cx="357039" cy="408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50"/>
              </a:lnSpc>
            </a:pPr>
            <a:r>
              <a:rPr lang="en-US" sz="275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1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4978152" y="1937891"/>
            <a:ext cx="2975670" cy="3908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875"/>
              </a:lnSpc>
            </a:pPr>
            <a:r>
              <a:rPr lang="en-US" sz="2312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Analytics Dashboard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833140" y="2385715"/>
            <a:ext cx="7120681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937"/>
              </a:lnSpc>
            </a:pPr>
            <a:r>
              <a:rPr lang="en-US" sz="1812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Rental statistics, revenue trends, and business intelligence reporting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9383241" y="3556993"/>
            <a:ext cx="714077" cy="28575"/>
            <a:chOff x="0" y="0"/>
            <a:chExt cx="952103" cy="381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952119" cy="38100"/>
            </a:xfrm>
            <a:custGeom>
              <a:avLst/>
              <a:gdLst/>
              <a:ahLst/>
              <a:cxnLst/>
              <a:rect r="r" b="b" t="t" l="l"/>
              <a:pathLst>
                <a:path h="38100" w="952119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lnTo>
                    <a:pt x="933069" y="0"/>
                  </a:lnTo>
                  <a:cubicBezTo>
                    <a:pt x="943610" y="0"/>
                    <a:pt x="952119" y="8509"/>
                    <a:pt x="952119" y="19050"/>
                  </a:cubicBezTo>
                  <a:cubicBezTo>
                    <a:pt x="952119" y="29591"/>
                    <a:pt x="943610" y="38100"/>
                    <a:pt x="933069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lose/>
                </a:path>
              </a:pathLst>
            </a:custGeom>
            <a:solidFill>
              <a:srgbClr val="C7C7D0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8871421" y="3298775"/>
            <a:ext cx="545157" cy="545158"/>
            <a:chOff x="0" y="0"/>
            <a:chExt cx="726877" cy="726877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6350" y="6350"/>
              <a:ext cx="714248" cy="714248"/>
            </a:xfrm>
            <a:custGeom>
              <a:avLst/>
              <a:gdLst/>
              <a:ahLst/>
              <a:cxnLst/>
              <a:rect r="r" b="b" t="t" l="l"/>
              <a:pathLst>
                <a:path h="714248" w="714248">
                  <a:moveTo>
                    <a:pt x="0" y="133350"/>
                  </a:moveTo>
                  <a:cubicBezTo>
                    <a:pt x="0" y="59690"/>
                    <a:pt x="59690" y="0"/>
                    <a:pt x="133350" y="0"/>
                  </a:cubicBezTo>
                  <a:lnTo>
                    <a:pt x="580898" y="0"/>
                  </a:lnTo>
                  <a:cubicBezTo>
                    <a:pt x="654558" y="0"/>
                    <a:pt x="714248" y="59690"/>
                    <a:pt x="714248" y="133350"/>
                  </a:cubicBezTo>
                  <a:lnTo>
                    <a:pt x="714248" y="580898"/>
                  </a:lnTo>
                  <a:cubicBezTo>
                    <a:pt x="714248" y="654558"/>
                    <a:pt x="654558" y="714248"/>
                    <a:pt x="580898" y="714248"/>
                  </a:cubicBezTo>
                  <a:lnTo>
                    <a:pt x="133350" y="714248"/>
                  </a:lnTo>
                  <a:cubicBezTo>
                    <a:pt x="59690" y="714121"/>
                    <a:pt x="0" y="654431"/>
                    <a:pt x="0" y="580898"/>
                  </a:cubicBezTo>
                  <a:close/>
                </a:path>
              </a:pathLst>
            </a:custGeom>
            <a:solidFill>
              <a:srgbClr val="E1E1EA"/>
            </a:solidFill>
            <a:ln w="12700">
              <a:solidFill>
                <a:srgbClr val="000000"/>
              </a:solidFill>
            </a:ln>
          </p:spPr>
        </p:sp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26948" cy="726948"/>
            </a:xfrm>
            <a:custGeom>
              <a:avLst/>
              <a:gdLst/>
              <a:ahLst/>
              <a:cxnLst/>
              <a:rect r="r" b="b" t="t" l="l"/>
              <a:pathLst>
                <a:path h="726948" w="726948">
                  <a:moveTo>
                    <a:pt x="0" y="139700"/>
                  </a:moveTo>
                  <a:cubicBezTo>
                    <a:pt x="0" y="62484"/>
                    <a:pt x="62484" y="0"/>
                    <a:pt x="139700" y="0"/>
                  </a:cubicBezTo>
                  <a:lnTo>
                    <a:pt x="587248" y="0"/>
                  </a:lnTo>
                  <a:lnTo>
                    <a:pt x="587248" y="6350"/>
                  </a:lnTo>
                  <a:lnTo>
                    <a:pt x="587248" y="0"/>
                  </a:lnTo>
                  <a:cubicBezTo>
                    <a:pt x="664337" y="0"/>
                    <a:pt x="726948" y="62484"/>
                    <a:pt x="726948" y="139700"/>
                  </a:cubicBezTo>
                  <a:lnTo>
                    <a:pt x="720598" y="139700"/>
                  </a:lnTo>
                  <a:lnTo>
                    <a:pt x="726948" y="139700"/>
                  </a:lnTo>
                  <a:lnTo>
                    <a:pt x="726948" y="587248"/>
                  </a:lnTo>
                  <a:lnTo>
                    <a:pt x="720598" y="587248"/>
                  </a:lnTo>
                  <a:lnTo>
                    <a:pt x="726948" y="587248"/>
                  </a:lnTo>
                  <a:cubicBezTo>
                    <a:pt x="726948" y="664337"/>
                    <a:pt x="664464" y="726948"/>
                    <a:pt x="587248" y="726948"/>
                  </a:cubicBezTo>
                  <a:lnTo>
                    <a:pt x="587248" y="720598"/>
                  </a:lnTo>
                  <a:lnTo>
                    <a:pt x="587248" y="726948"/>
                  </a:lnTo>
                  <a:lnTo>
                    <a:pt x="139700" y="726948"/>
                  </a:lnTo>
                  <a:lnTo>
                    <a:pt x="139700" y="720598"/>
                  </a:lnTo>
                  <a:lnTo>
                    <a:pt x="139700" y="726948"/>
                  </a:lnTo>
                  <a:cubicBezTo>
                    <a:pt x="62611" y="726948"/>
                    <a:pt x="0" y="664464"/>
                    <a:pt x="0" y="587248"/>
                  </a:cubicBezTo>
                  <a:lnTo>
                    <a:pt x="0" y="139700"/>
                  </a:lnTo>
                  <a:lnTo>
                    <a:pt x="6350" y="139700"/>
                  </a:lnTo>
                  <a:lnTo>
                    <a:pt x="0" y="139700"/>
                  </a:lnTo>
                  <a:moveTo>
                    <a:pt x="12700" y="139700"/>
                  </a:moveTo>
                  <a:lnTo>
                    <a:pt x="12700" y="587248"/>
                  </a:lnTo>
                  <a:lnTo>
                    <a:pt x="6350" y="587248"/>
                  </a:lnTo>
                  <a:lnTo>
                    <a:pt x="12700" y="587248"/>
                  </a:lnTo>
                  <a:cubicBezTo>
                    <a:pt x="12700" y="657352"/>
                    <a:pt x="69596" y="714248"/>
                    <a:pt x="139700" y="714248"/>
                  </a:cubicBezTo>
                  <a:lnTo>
                    <a:pt x="587248" y="714248"/>
                  </a:lnTo>
                  <a:cubicBezTo>
                    <a:pt x="657352" y="714248"/>
                    <a:pt x="714248" y="657352"/>
                    <a:pt x="714248" y="587248"/>
                  </a:cubicBezTo>
                  <a:lnTo>
                    <a:pt x="714248" y="139700"/>
                  </a:lnTo>
                  <a:cubicBezTo>
                    <a:pt x="714248" y="69596"/>
                    <a:pt x="657352" y="12700"/>
                    <a:pt x="587248" y="12700"/>
                  </a:cubicBezTo>
                  <a:lnTo>
                    <a:pt x="139700" y="12700"/>
                  </a:lnTo>
                  <a:lnTo>
                    <a:pt x="139700" y="6350"/>
                  </a:lnTo>
                  <a:lnTo>
                    <a:pt x="139700" y="12700"/>
                  </a:lnTo>
                  <a:cubicBezTo>
                    <a:pt x="69596" y="12700"/>
                    <a:pt x="12700" y="69596"/>
                    <a:pt x="12700" y="139700"/>
                  </a:cubicBezTo>
                  <a:close/>
                </a:path>
              </a:pathLst>
            </a:custGeom>
            <a:solidFill>
              <a:srgbClr val="C7C7D0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22" id="22"/>
          <p:cNvSpPr txBox="true"/>
          <p:nvPr/>
        </p:nvSpPr>
        <p:spPr>
          <a:xfrm rot="0">
            <a:off x="8965406" y="3386212"/>
            <a:ext cx="357039" cy="408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50"/>
              </a:lnSpc>
            </a:pPr>
            <a:r>
              <a:rPr lang="en-US" sz="275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2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0334179" y="3366195"/>
            <a:ext cx="3453556" cy="3908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5"/>
              </a:lnSpc>
            </a:pPr>
            <a:r>
              <a:rPr lang="en-US" sz="2312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Communication Features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0334179" y="3814019"/>
            <a:ext cx="7120681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7"/>
              </a:lnSpc>
            </a:pPr>
            <a:r>
              <a:rPr lang="en-US" sz="1812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Email notifications, automated invoice generation, and customer alerts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8190681" y="4788099"/>
            <a:ext cx="714078" cy="28575"/>
            <a:chOff x="0" y="0"/>
            <a:chExt cx="952103" cy="381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952119" cy="38100"/>
            </a:xfrm>
            <a:custGeom>
              <a:avLst/>
              <a:gdLst/>
              <a:ahLst/>
              <a:cxnLst/>
              <a:rect r="r" b="b" t="t" l="l"/>
              <a:pathLst>
                <a:path h="38100" w="952119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lnTo>
                    <a:pt x="933069" y="0"/>
                  </a:lnTo>
                  <a:cubicBezTo>
                    <a:pt x="943610" y="0"/>
                    <a:pt x="952119" y="8509"/>
                    <a:pt x="952119" y="19050"/>
                  </a:cubicBezTo>
                  <a:cubicBezTo>
                    <a:pt x="952119" y="29591"/>
                    <a:pt x="943610" y="38100"/>
                    <a:pt x="933069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lose/>
                </a:path>
              </a:pathLst>
            </a:custGeom>
            <a:solidFill>
              <a:srgbClr val="C7C7D0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27" id="27"/>
          <p:cNvGrpSpPr/>
          <p:nvPr/>
        </p:nvGrpSpPr>
        <p:grpSpPr>
          <a:xfrm rot="0">
            <a:off x="8871421" y="4529881"/>
            <a:ext cx="545157" cy="545157"/>
            <a:chOff x="0" y="0"/>
            <a:chExt cx="726877" cy="726877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6350" y="6350"/>
              <a:ext cx="714248" cy="714248"/>
            </a:xfrm>
            <a:custGeom>
              <a:avLst/>
              <a:gdLst/>
              <a:ahLst/>
              <a:cxnLst/>
              <a:rect r="r" b="b" t="t" l="l"/>
              <a:pathLst>
                <a:path h="714248" w="714248">
                  <a:moveTo>
                    <a:pt x="0" y="133350"/>
                  </a:moveTo>
                  <a:cubicBezTo>
                    <a:pt x="0" y="59690"/>
                    <a:pt x="59690" y="0"/>
                    <a:pt x="133350" y="0"/>
                  </a:cubicBezTo>
                  <a:lnTo>
                    <a:pt x="580898" y="0"/>
                  </a:lnTo>
                  <a:cubicBezTo>
                    <a:pt x="654558" y="0"/>
                    <a:pt x="714248" y="59690"/>
                    <a:pt x="714248" y="133350"/>
                  </a:cubicBezTo>
                  <a:lnTo>
                    <a:pt x="714248" y="580898"/>
                  </a:lnTo>
                  <a:cubicBezTo>
                    <a:pt x="714248" y="654558"/>
                    <a:pt x="654558" y="714248"/>
                    <a:pt x="580898" y="714248"/>
                  </a:cubicBezTo>
                  <a:lnTo>
                    <a:pt x="133350" y="714248"/>
                  </a:lnTo>
                  <a:cubicBezTo>
                    <a:pt x="59690" y="714121"/>
                    <a:pt x="0" y="654431"/>
                    <a:pt x="0" y="580898"/>
                  </a:cubicBezTo>
                  <a:close/>
                </a:path>
              </a:pathLst>
            </a:custGeom>
            <a:solidFill>
              <a:srgbClr val="E1E1EA"/>
            </a:solidFill>
            <a:ln w="12700">
              <a:solidFill>
                <a:srgbClr val="000000"/>
              </a:solidFill>
            </a:ln>
          </p:spPr>
        </p:sp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726948" cy="726948"/>
            </a:xfrm>
            <a:custGeom>
              <a:avLst/>
              <a:gdLst/>
              <a:ahLst/>
              <a:cxnLst/>
              <a:rect r="r" b="b" t="t" l="l"/>
              <a:pathLst>
                <a:path h="726948" w="726948">
                  <a:moveTo>
                    <a:pt x="0" y="139700"/>
                  </a:moveTo>
                  <a:cubicBezTo>
                    <a:pt x="0" y="62484"/>
                    <a:pt x="62484" y="0"/>
                    <a:pt x="139700" y="0"/>
                  </a:cubicBezTo>
                  <a:lnTo>
                    <a:pt x="587248" y="0"/>
                  </a:lnTo>
                  <a:lnTo>
                    <a:pt x="587248" y="6350"/>
                  </a:lnTo>
                  <a:lnTo>
                    <a:pt x="587248" y="0"/>
                  </a:lnTo>
                  <a:cubicBezTo>
                    <a:pt x="664337" y="0"/>
                    <a:pt x="726948" y="62484"/>
                    <a:pt x="726948" y="139700"/>
                  </a:cubicBezTo>
                  <a:lnTo>
                    <a:pt x="720598" y="139700"/>
                  </a:lnTo>
                  <a:lnTo>
                    <a:pt x="726948" y="139700"/>
                  </a:lnTo>
                  <a:lnTo>
                    <a:pt x="726948" y="587248"/>
                  </a:lnTo>
                  <a:lnTo>
                    <a:pt x="720598" y="587248"/>
                  </a:lnTo>
                  <a:lnTo>
                    <a:pt x="726948" y="587248"/>
                  </a:lnTo>
                  <a:cubicBezTo>
                    <a:pt x="726948" y="664337"/>
                    <a:pt x="664464" y="726948"/>
                    <a:pt x="587248" y="726948"/>
                  </a:cubicBezTo>
                  <a:lnTo>
                    <a:pt x="587248" y="720598"/>
                  </a:lnTo>
                  <a:lnTo>
                    <a:pt x="587248" y="726948"/>
                  </a:lnTo>
                  <a:lnTo>
                    <a:pt x="139700" y="726948"/>
                  </a:lnTo>
                  <a:lnTo>
                    <a:pt x="139700" y="720598"/>
                  </a:lnTo>
                  <a:lnTo>
                    <a:pt x="139700" y="726948"/>
                  </a:lnTo>
                  <a:cubicBezTo>
                    <a:pt x="62611" y="726948"/>
                    <a:pt x="0" y="664464"/>
                    <a:pt x="0" y="587248"/>
                  </a:cubicBezTo>
                  <a:lnTo>
                    <a:pt x="0" y="139700"/>
                  </a:lnTo>
                  <a:lnTo>
                    <a:pt x="6350" y="139700"/>
                  </a:lnTo>
                  <a:lnTo>
                    <a:pt x="0" y="139700"/>
                  </a:lnTo>
                  <a:moveTo>
                    <a:pt x="12700" y="139700"/>
                  </a:moveTo>
                  <a:lnTo>
                    <a:pt x="12700" y="587248"/>
                  </a:lnTo>
                  <a:lnTo>
                    <a:pt x="6350" y="587248"/>
                  </a:lnTo>
                  <a:lnTo>
                    <a:pt x="12700" y="587248"/>
                  </a:lnTo>
                  <a:cubicBezTo>
                    <a:pt x="12700" y="657352"/>
                    <a:pt x="69596" y="714248"/>
                    <a:pt x="139700" y="714248"/>
                  </a:cubicBezTo>
                  <a:lnTo>
                    <a:pt x="587248" y="714248"/>
                  </a:lnTo>
                  <a:cubicBezTo>
                    <a:pt x="657352" y="714248"/>
                    <a:pt x="714248" y="657352"/>
                    <a:pt x="714248" y="587248"/>
                  </a:cubicBezTo>
                  <a:lnTo>
                    <a:pt x="714248" y="139700"/>
                  </a:lnTo>
                  <a:cubicBezTo>
                    <a:pt x="714248" y="69596"/>
                    <a:pt x="657352" y="12700"/>
                    <a:pt x="587248" y="12700"/>
                  </a:cubicBezTo>
                  <a:lnTo>
                    <a:pt x="139700" y="12700"/>
                  </a:lnTo>
                  <a:lnTo>
                    <a:pt x="139700" y="6350"/>
                  </a:lnTo>
                  <a:lnTo>
                    <a:pt x="139700" y="12700"/>
                  </a:lnTo>
                  <a:cubicBezTo>
                    <a:pt x="69596" y="12700"/>
                    <a:pt x="12700" y="69596"/>
                    <a:pt x="12700" y="139700"/>
                  </a:cubicBezTo>
                  <a:close/>
                </a:path>
              </a:pathLst>
            </a:custGeom>
            <a:solidFill>
              <a:srgbClr val="C7C7D0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30" id="30"/>
          <p:cNvSpPr txBox="true"/>
          <p:nvPr/>
        </p:nvSpPr>
        <p:spPr>
          <a:xfrm rot="0">
            <a:off x="8965406" y="4617319"/>
            <a:ext cx="357039" cy="408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50"/>
              </a:lnSpc>
            </a:pPr>
            <a:r>
              <a:rPr lang="en-US" sz="275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3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4978152" y="4597301"/>
            <a:ext cx="2975670" cy="3908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875"/>
              </a:lnSpc>
            </a:pPr>
            <a:r>
              <a:rPr lang="en-US" sz="2312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Cloud Deployment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833140" y="5045125"/>
            <a:ext cx="7120681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937"/>
              </a:lnSpc>
            </a:pPr>
            <a:r>
              <a:rPr lang="en-US" sz="1812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Containerization with Docker and cloud hosting infrastructure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9383241" y="6019205"/>
            <a:ext cx="714077" cy="28575"/>
            <a:chOff x="0" y="0"/>
            <a:chExt cx="952103" cy="381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952119" cy="38100"/>
            </a:xfrm>
            <a:custGeom>
              <a:avLst/>
              <a:gdLst/>
              <a:ahLst/>
              <a:cxnLst/>
              <a:rect r="r" b="b" t="t" l="l"/>
              <a:pathLst>
                <a:path h="38100" w="952119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lnTo>
                    <a:pt x="933069" y="0"/>
                  </a:lnTo>
                  <a:cubicBezTo>
                    <a:pt x="943610" y="0"/>
                    <a:pt x="952119" y="8509"/>
                    <a:pt x="952119" y="19050"/>
                  </a:cubicBezTo>
                  <a:cubicBezTo>
                    <a:pt x="952119" y="29591"/>
                    <a:pt x="943610" y="38100"/>
                    <a:pt x="933069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lose/>
                </a:path>
              </a:pathLst>
            </a:custGeom>
            <a:solidFill>
              <a:srgbClr val="C7C7D0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35" id="35"/>
          <p:cNvGrpSpPr/>
          <p:nvPr/>
        </p:nvGrpSpPr>
        <p:grpSpPr>
          <a:xfrm rot="0">
            <a:off x="8871421" y="5760987"/>
            <a:ext cx="545157" cy="545157"/>
            <a:chOff x="0" y="0"/>
            <a:chExt cx="726877" cy="726877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6350" y="6350"/>
              <a:ext cx="714248" cy="714248"/>
            </a:xfrm>
            <a:custGeom>
              <a:avLst/>
              <a:gdLst/>
              <a:ahLst/>
              <a:cxnLst/>
              <a:rect r="r" b="b" t="t" l="l"/>
              <a:pathLst>
                <a:path h="714248" w="714248">
                  <a:moveTo>
                    <a:pt x="0" y="133350"/>
                  </a:moveTo>
                  <a:cubicBezTo>
                    <a:pt x="0" y="59690"/>
                    <a:pt x="59690" y="0"/>
                    <a:pt x="133350" y="0"/>
                  </a:cubicBezTo>
                  <a:lnTo>
                    <a:pt x="580898" y="0"/>
                  </a:lnTo>
                  <a:cubicBezTo>
                    <a:pt x="654558" y="0"/>
                    <a:pt x="714248" y="59690"/>
                    <a:pt x="714248" y="133350"/>
                  </a:cubicBezTo>
                  <a:lnTo>
                    <a:pt x="714248" y="580898"/>
                  </a:lnTo>
                  <a:cubicBezTo>
                    <a:pt x="714248" y="654558"/>
                    <a:pt x="654558" y="714248"/>
                    <a:pt x="580898" y="714248"/>
                  </a:cubicBezTo>
                  <a:lnTo>
                    <a:pt x="133350" y="714248"/>
                  </a:lnTo>
                  <a:cubicBezTo>
                    <a:pt x="59690" y="714121"/>
                    <a:pt x="0" y="654431"/>
                    <a:pt x="0" y="580898"/>
                  </a:cubicBezTo>
                  <a:close/>
                </a:path>
              </a:pathLst>
            </a:custGeom>
            <a:solidFill>
              <a:srgbClr val="E1E1EA"/>
            </a:solidFill>
            <a:ln w="12700">
              <a:solidFill>
                <a:srgbClr val="000000"/>
              </a:solidFill>
            </a:ln>
          </p:spPr>
        </p:sp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726948" cy="726948"/>
            </a:xfrm>
            <a:custGeom>
              <a:avLst/>
              <a:gdLst/>
              <a:ahLst/>
              <a:cxnLst/>
              <a:rect r="r" b="b" t="t" l="l"/>
              <a:pathLst>
                <a:path h="726948" w="726948">
                  <a:moveTo>
                    <a:pt x="0" y="139700"/>
                  </a:moveTo>
                  <a:cubicBezTo>
                    <a:pt x="0" y="62484"/>
                    <a:pt x="62484" y="0"/>
                    <a:pt x="139700" y="0"/>
                  </a:cubicBezTo>
                  <a:lnTo>
                    <a:pt x="587248" y="0"/>
                  </a:lnTo>
                  <a:lnTo>
                    <a:pt x="587248" y="6350"/>
                  </a:lnTo>
                  <a:lnTo>
                    <a:pt x="587248" y="0"/>
                  </a:lnTo>
                  <a:cubicBezTo>
                    <a:pt x="664337" y="0"/>
                    <a:pt x="726948" y="62484"/>
                    <a:pt x="726948" y="139700"/>
                  </a:cubicBezTo>
                  <a:lnTo>
                    <a:pt x="720598" y="139700"/>
                  </a:lnTo>
                  <a:lnTo>
                    <a:pt x="726948" y="139700"/>
                  </a:lnTo>
                  <a:lnTo>
                    <a:pt x="726948" y="587248"/>
                  </a:lnTo>
                  <a:lnTo>
                    <a:pt x="720598" y="587248"/>
                  </a:lnTo>
                  <a:lnTo>
                    <a:pt x="726948" y="587248"/>
                  </a:lnTo>
                  <a:cubicBezTo>
                    <a:pt x="726948" y="664337"/>
                    <a:pt x="664464" y="726948"/>
                    <a:pt x="587248" y="726948"/>
                  </a:cubicBezTo>
                  <a:lnTo>
                    <a:pt x="587248" y="720598"/>
                  </a:lnTo>
                  <a:lnTo>
                    <a:pt x="587248" y="726948"/>
                  </a:lnTo>
                  <a:lnTo>
                    <a:pt x="139700" y="726948"/>
                  </a:lnTo>
                  <a:lnTo>
                    <a:pt x="139700" y="720598"/>
                  </a:lnTo>
                  <a:lnTo>
                    <a:pt x="139700" y="726948"/>
                  </a:lnTo>
                  <a:cubicBezTo>
                    <a:pt x="62611" y="726948"/>
                    <a:pt x="0" y="664464"/>
                    <a:pt x="0" y="587248"/>
                  </a:cubicBezTo>
                  <a:lnTo>
                    <a:pt x="0" y="139700"/>
                  </a:lnTo>
                  <a:lnTo>
                    <a:pt x="6350" y="139700"/>
                  </a:lnTo>
                  <a:lnTo>
                    <a:pt x="0" y="139700"/>
                  </a:lnTo>
                  <a:moveTo>
                    <a:pt x="12700" y="139700"/>
                  </a:moveTo>
                  <a:lnTo>
                    <a:pt x="12700" y="587248"/>
                  </a:lnTo>
                  <a:lnTo>
                    <a:pt x="6350" y="587248"/>
                  </a:lnTo>
                  <a:lnTo>
                    <a:pt x="12700" y="587248"/>
                  </a:lnTo>
                  <a:cubicBezTo>
                    <a:pt x="12700" y="657352"/>
                    <a:pt x="69596" y="714248"/>
                    <a:pt x="139700" y="714248"/>
                  </a:cubicBezTo>
                  <a:lnTo>
                    <a:pt x="587248" y="714248"/>
                  </a:lnTo>
                  <a:cubicBezTo>
                    <a:pt x="657352" y="714248"/>
                    <a:pt x="714248" y="657352"/>
                    <a:pt x="714248" y="587248"/>
                  </a:cubicBezTo>
                  <a:lnTo>
                    <a:pt x="714248" y="139700"/>
                  </a:lnTo>
                  <a:cubicBezTo>
                    <a:pt x="714248" y="69596"/>
                    <a:pt x="657352" y="12700"/>
                    <a:pt x="587248" y="12700"/>
                  </a:cubicBezTo>
                  <a:lnTo>
                    <a:pt x="139700" y="12700"/>
                  </a:lnTo>
                  <a:lnTo>
                    <a:pt x="139700" y="6350"/>
                  </a:lnTo>
                  <a:lnTo>
                    <a:pt x="139700" y="12700"/>
                  </a:lnTo>
                  <a:cubicBezTo>
                    <a:pt x="69596" y="12700"/>
                    <a:pt x="12700" y="69596"/>
                    <a:pt x="12700" y="139700"/>
                  </a:cubicBezTo>
                  <a:close/>
                </a:path>
              </a:pathLst>
            </a:custGeom>
            <a:solidFill>
              <a:srgbClr val="C7C7D0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38" id="38"/>
          <p:cNvSpPr txBox="true"/>
          <p:nvPr/>
        </p:nvSpPr>
        <p:spPr>
          <a:xfrm rot="0">
            <a:off x="8965406" y="5848425"/>
            <a:ext cx="357039" cy="408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50"/>
              </a:lnSpc>
            </a:pPr>
            <a:r>
              <a:rPr lang="en-US" sz="275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4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0334179" y="5828408"/>
            <a:ext cx="2975670" cy="3908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5"/>
              </a:lnSpc>
            </a:pPr>
            <a:r>
              <a:rPr lang="en-US" sz="2312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Enhanced Security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334179" y="6276231"/>
            <a:ext cx="7120681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7"/>
              </a:lnSpc>
            </a:pPr>
            <a:r>
              <a:rPr lang="en-US" sz="1812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Advanced role-based access control and permission management</a:t>
            </a:r>
          </a:p>
        </p:txBody>
      </p:sp>
      <p:grpSp>
        <p:nvGrpSpPr>
          <p:cNvPr name="Group 41" id="41"/>
          <p:cNvGrpSpPr/>
          <p:nvPr/>
        </p:nvGrpSpPr>
        <p:grpSpPr>
          <a:xfrm rot="0">
            <a:off x="8190681" y="7250311"/>
            <a:ext cx="714078" cy="28575"/>
            <a:chOff x="0" y="0"/>
            <a:chExt cx="952103" cy="3810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952119" cy="38100"/>
            </a:xfrm>
            <a:custGeom>
              <a:avLst/>
              <a:gdLst/>
              <a:ahLst/>
              <a:cxnLst/>
              <a:rect r="r" b="b" t="t" l="l"/>
              <a:pathLst>
                <a:path h="38100" w="952119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lnTo>
                    <a:pt x="933069" y="0"/>
                  </a:lnTo>
                  <a:cubicBezTo>
                    <a:pt x="943610" y="0"/>
                    <a:pt x="952119" y="8509"/>
                    <a:pt x="952119" y="19050"/>
                  </a:cubicBezTo>
                  <a:cubicBezTo>
                    <a:pt x="952119" y="29591"/>
                    <a:pt x="943610" y="38100"/>
                    <a:pt x="933069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lose/>
                </a:path>
              </a:pathLst>
            </a:custGeom>
            <a:solidFill>
              <a:srgbClr val="C7C7D0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43" id="43"/>
          <p:cNvGrpSpPr/>
          <p:nvPr/>
        </p:nvGrpSpPr>
        <p:grpSpPr>
          <a:xfrm rot="0">
            <a:off x="8871421" y="6992094"/>
            <a:ext cx="545157" cy="545157"/>
            <a:chOff x="0" y="0"/>
            <a:chExt cx="726877" cy="726877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6350" y="6350"/>
              <a:ext cx="714248" cy="714248"/>
            </a:xfrm>
            <a:custGeom>
              <a:avLst/>
              <a:gdLst/>
              <a:ahLst/>
              <a:cxnLst/>
              <a:rect r="r" b="b" t="t" l="l"/>
              <a:pathLst>
                <a:path h="714248" w="714248">
                  <a:moveTo>
                    <a:pt x="0" y="133350"/>
                  </a:moveTo>
                  <a:cubicBezTo>
                    <a:pt x="0" y="59690"/>
                    <a:pt x="59690" y="0"/>
                    <a:pt x="133350" y="0"/>
                  </a:cubicBezTo>
                  <a:lnTo>
                    <a:pt x="580898" y="0"/>
                  </a:lnTo>
                  <a:cubicBezTo>
                    <a:pt x="654558" y="0"/>
                    <a:pt x="714248" y="59690"/>
                    <a:pt x="714248" y="133350"/>
                  </a:cubicBezTo>
                  <a:lnTo>
                    <a:pt x="714248" y="580898"/>
                  </a:lnTo>
                  <a:cubicBezTo>
                    <a:pt x="714248" y="654558"/>
                    <a:pt x="654558" y="714248"/>
                    <a:pt x="580898" y="714248"/>
                  </a:cubicBezTo>
                  <a:lnTo>
                    <a:pt x="133350" y="714248"/>
                  </a:lnTo>
                  <a:cubicBezTo>
                    <a:pt x="59690" y="714121"/>
                    <a:pt x="0" y="654431"/>
                    <a:pt x="0" y="580898"/>
                  </a:cubicBezTo>
                  <a:close/>
                </a:path>
              </a:pathLst>
            </a:custGeom>
            <a:solidFill>
              <a:srgbClr val="E1E1EA"/>
            </a:solidFill>
            <a:ln w="12700">
              <a:solidFill>
                <a:srgbClr val="000000"/>
              </a:solidFill>
            </a:ln>
          </p:spPr>
        </p:sp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726948" cy="726948"/>
            </a:xfrm>
            <a:custGeom>
              <a:avLst/>
              <a:gdLst/>
              <a:ahLst/>
              <a:cxnLst/>
              <a:rect r="r" b="b" t="t" l="l"/>
              <a:pathLst>
                <a:path h="726948" w="726948">
                  <a:moveTo>
                    <a:pt x="0" y="139700"/>
                  </a:moveTo>
                  <a:cubicBezTo>
                    <a:pt x="0" y="62484"/>
                    <a:pt x="62484" y="0"/>
                    <a:pt x="139700" y="0"/>
                  </a:cubicBezTo>
                  <a:lnTo>
                    <a:pt x="587248" y="0"/>
                  </a:lnTo>
                  <a:lnTo>
                    <a:pt x="587248" y="6350"/>
                  </a:lnTo>
                  <a:lnTo>
                    <a:pt x="587248" y="0"/>
                  </a:lnTo>
                  <a:cubicBezTo>
                    <a:pt x="664337" y="0"/>
                    <a:pt x="726948" y="62484"/>
                    <a:pt x="726948" y="139700"/>
                  </a:cubicBezTo>
                  <a:lnTo>
                    <a:pt x="720598" y="139700"/>
                  </a:lnTo>
                  <a:lnTo>
                    <a:pt x="726948" y="139700"/>
                  </a:lnTo>
                  <a:lnTo>
                    <a:pt x="726948" y="587248"/>
                  </a:lnTo>
                  <a:lnTo>
                    <a:pt x="720598" y="587248"/>
                  </a:lnTo>
                  <a:lnTo>
                    <a:pt x="726948" y="587248"/>
                  </a:lnTo>
                  <a:cubicBezTo>
                    <a:pt x="726948" y="664337"/>
                    <a:pt x="664464" y="726948"/>
                    <a:pt x="587248" y="726948"/>
                  </a:cubicBezTo>
                  <a:lnTo>
                    <a:pt x="587248" y="720598"/>
                  </a:lnTo>
                  <a:lnTo>
                    <a:pt x="587248" y="726948"/>
                  </a:lnTo>
                  <a:lnTo>
                    <a:pt x="139700" y="726948"/>
                  </a:lnTo>
                  <a:lnTo>
                    <a:pt x="139700" y="720598"/>
                  </a:lnTo>
                  <a:lnTo>
                    <a:pt x="139700" y="726948"/>
                  </a:lnTo>
                  <a:cubicBezTo>
                    <a:pt x="62611" y="726948"/>
                    <a:pt x="0" y="664464"/>
                    <a:pt x="0" y="587248"/>
                  </a:cubicBezTo>
                  <a:lnTo>
                    <a:pt x="0" y="139700"/>
                  </a:lnTo>
                  <a:lnTo>
                    <a:pt x="6350" y="139700"/>
                  </a:lnTo>
                  <a:lnTo>
                    <a:pt x="0" y="139700"/>
                  </a:lnTo>
                  <a:moveTo>
                    <a:pt x="12700" y="139700"/>
                  </a:moveTo>
                  <a:lnTo>
                    <a:pt x="12700" y="587248"/>
                  </a:lnTo>
                  <a:lnTo>
                    <a:pt x="6350" y="587248"/>
                  </a:lnTo>
                  <a:lnTo>
                    <a:pt x="12700" y="587248"/>
                  </a:lnTo>
                  <a:cubicBezTo>
                    <a:pt x="12700" y="657352"/>
                    <a:pt x="69596" y="714248"/>
                    <a:pt x="139700" y="714248"/>
                  </a:cubicBezTo>
                  <a:lnTo>
                    <a:pt x="587248" y="714248"/>
                  </a:lnTo>
                  <a:cubicBezTo>
                    <a:pt x="657352" y="714248"/>
                    <a:pt x="714248" y="657352"/>
                    <a:pt x="714248" y="587248"/>
                  </a:cubicBezTo>
                  <a:lnTo>
                    <a:pt x="714248" y="139700"/>
                  </a:lnTo>
                  <a:cubicBezTo>
                    <a:pt x="714248" y="69596"/>
                    <a:pt x="657352" y="12700"/>
                    <a:pt x="587248" y="12700"/>
                  </a:cubicBezTo>
                  <a:lnTo>
                    <a:pt x="139700" y="12700"/>
                  </a:lnTo>
                  <a:lnTo>
                    <a:pt x="139700" y="6350"/>
                  </a:lnTo>
                  <a:lnTo>
                    <a:pt x="139700" y="12700"/>
                  </a:lnTo>
                  <a:cubicBezTo>
                    <a:pt x="69596" y="12700"/>
                    <a:pt x="12700" y="69596"/>
                    <a:pt x="12700" y="139700"/>
                  </a:cubicBezTo>
                  <a:close/>
                </a:path>
              </a:pathLst>
            </a:custGeom>
            <a:solidFill>
              <a:srgbClr val="C7C7D0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46" id="46"/>
          <p:cNvSpPr txBox="true"/>
          <p:nvPr/>
        </p:nvSpPr>
        <p:spPr>
          <a:xfrm rot="0">
            <a:off x="8965406" y="7079531"/>
            <a:ext cx="357039" cy="408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50"/>
              </a:lnSpc>
            </a:pPr>
            <a:r>
              <a:rPr lang="en-US" sz="275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5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4978152" y="7059514"/>
            <a:ext cx="2975670" cy="3908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875"/>
              </a:lnSpc>
            </a:pPr>
            <a:r>
              <a:rPr lang="en-US" sz="2312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Multi-Platform UI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833140" y="7507337"/>
            <a:ext cx="7120681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937"/>
              </a:lnSpc>
            </a:pPr>
            <a:r>
              <a:rPr lang="en-US" sz="1812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Web and mobile application extensions for broader accessibility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833140" y="9164985"/>
            <a:ext cx="16621720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7"/>
              </a:lnSpc>
            </a:pPr>
            <a:r>
              <a:rPr lang="en-US" sz="1812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These time-permitting enhancements represent the natural evolution path for transforming the system into a comprehensive, enterprise-grade solution.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CECF3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6" id="6"/>
          <p:cNvSpPr txBox="true"/>
          <p:nvPr/>
        </p:nvSpPr>
        <p:spPr>
          <a:xfrm rot="0">
            <a:off x="780157" y="593972"/>
            <a:ext cx="5572869" cy="715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37"/>
              </a:lnSpc>
            </a:pPr>
            <a:r>
              <a:rPr lang="en-US" sz="4375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Project Contribution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80157" y="1596330"/>
            <a:ext cx="11145887" cy="14408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937"/>
              </a:lnSpc>
            </a:pPr>
            <a:r>
              <a:rPr lang="en-US" sz="8750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Solo Development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3096071" y="4144416"/>
            <a:ext cx="2786360" cy="3577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687"/>
              </a:lnSpc>
            </a:pPr>
            <a:r>
              <a:rPr lang="en-US" sz="2187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System Design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780157" y="4569173"/>
            <a:ext cx="5102275" cy="7798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750"/>
              </a:lnSpc>
            </a:pPr>
            <a:r>
              <a:rPr lang="en-US" sz="17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Architecture, backend, frontend, and database schema development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6216700" y="3371404"/>
            <a:ext cx="5854601" cy="5854601"/>
            <a:chOff x="0" y="0"/>
            <a:chExt cx="7806135" cy="7806135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7806182" cy="7806182"/>
            </a:xfrm>
            <a:custGeom>
              <a:avLst/>
              <a:gdLst/>
              <a:ahLst/>
              <a:cxnLst/>
              <a:rect r="r" b="b" t="t" l="l"/>
              <a:pathLst>
                <a:path h="7806182" w="7806182">
                  <a:moveTo>
                    <a:pt x="0" y="0"/>
                  </a:moveTo>
                  <a:lnTo>
                    <a:pt x="7806182" y="0"/>
                  </a:lnTo>
                  <a:lnTo>
                    <a:pt x="7806182" y="7806182"/>
                  </a:lnTo>
                  <a:lnTo>
                    <a:pt x="0" y="78061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Freeform 12" id="12" descr="preencoded.png"/>
          <p:cNvSpPr/>
          <p:nvPr/>
        </p:nvSpPr>
        <p:spPr>
          <a:xfrm flipH="false" flipV="false" rot="0">
            <a:off x="7528172" y="4682877"/>
            <a:ext cx="333524" cy="333524"/>
          </a:xfrm>
          <a:custGeom>
            <a:avLst/>
            <a:gdLst/>
            <a:ahLst/>
            <a:cxnLst/>
            <a:rect r="r" b="b" t="t" l="l"/>
            <a:pathLst>
              <a:path h="333524" w="333524">
                <a:moveTo>
                  <a:pt x="0" y="0"/>
                </a:moveTo>
                <a:lnTo>
                  <a:pt x="333524" y="0"/>
                </a:lnTo>
                <a:lnTo>
                  <a:pt x="333524" y="333524"/>
                </a:lnTo>
                <a:lnTo>
                  <a:pt x="0" y="33352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-9722" r="0" b="-9722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12405569" y="4144416"/>
            <a:ext cx="2786360" cy="3577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87"/>
              </a:lnSpc>
            </a:pPr>
            <a:r>
              <a:rPr lang="en-US" sz="2187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Core Implementation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405569" y="4569173"/>
            <a:ext cx="5102275" cy="7798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0"/>
              </a:lnSpc>
            </a:pPr>
            <a:r>
              <a:rPr lang="en-US" sz="17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Booking workflow, billing system, and all feature modules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6216700" y="3371404"/>
            <a:ext cx="5854601" cy="5854601"/>
            <a:chOff x="0" y="0"/>
            <a:chExt cx="7806135" cy="7806135"/>
          </a:xfrm>
        </p:grpSpPr>
        <p:sp>
          <p:nvSpPr>
            <p:cNvPr name="Freeform 16" id="16" descr="preencoded.png"/>
            <p:cNvSpPr/>
            <p:nvPr/>
          </p:nvSpPr>
          <p:spPr>
            <a:xfrm flipH="false" flipV="false" rot="0">
              <a:off x="0" y="0"/>
              <a:ext cx="7806182" cy="7806182"/>
            </a:xfrm>
            <a:custGeom>
              <a:avLst/>
              <a:gdLst/>
              <a:ahLst/>
              <a:cxnLst/>
              <a:rect r="r" b="b" t="t" l="l"/>
              <a:pathLst>
                <a:path h="7806182" w="7806182">
                  <a:moveTo>
                    <a:pt x="0" y="0"/>
                  </a:moveTo>
                  <a:lnTo>
                    <a:pt x="7806182" y="0"/>
                  </a:lnTo>
                  <a:lnTo>
                    <a:pt x="7806182" y="7806182"/>
                  </a:lnTo>
                  <a:lnTo>
                    <a:pt x="0" y="78061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sp>
        <p:nvSpPr>
          <p:cNvPr name="Freeform 17" id="17" descr="preencoded.png"/>
          <p:cNvSpPr/>
          <p:nvPr/>
        </p:nvSpPr>
        <p:spPr>
          <a:xfrm flipH="false" flipV="false" rot="0">
            <a:off x="10426005" y="4682877"/>
            <a:ext cx="333524" cy="333524"/>
          </a:xfrm>
          <a:custGeom>
            <a:avLst/>
            <a:gdLst/>
            <a:ahLst/>
            <a:cxnLst/>
            <a:rect r="r" b="b" t="t" l="l"/>
            <a:pathLst>
              <a:path h="333524" w="333524">
                <a:moveTo>
                  <a:pt x="0" y="0"/>
                </a:moveTo>
                <a:lnTo>
                  <a:pt x="333524" y="0"/>
                </a:lnTo>
                <a:lnTo>
                  <a:pt x="333524" y="333524"/>
                </a:lnTo>
                <a:lnTo>
                  <a:pt x="0" y="33352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1388" t="0" r="-1388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12405569" y="7417148"/>
            <a:ext cx="2786360" cy="3577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87"/>
              </a:lnSpc>
            </a:pPr>
            <a:r>
              <a:rPr lang="en-US" sz="2187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Quality Assurance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2405569" y="7841902"/>
            <a:ext cx="5102275" cy="4232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0"/>
              </a:lnSpc>
            </a:pPr>
            <a:r>
              <a:rPr lang="en-US" sz="17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Testing, debugging, and performance optimization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6216700" y="3371404"/>
            <a:ext cx="5854601" cy="5854601"/>
            <a:chOff x="0" y="0"/>
            <a:chExt cx="7806135" cy="7806135"/>
          </a:xfrm>
        </p:grpSpPr>
        <p:sp>
          <p:nvSpPr>
            <p:cNvPr name="Freeform 21" id="21" descr="preencoded.png"/>
            <p:cNvSpPr/>
            <p:nvPr/>
          </p:nvSpPr>
          <p:spPr>
            <a:xfrm flipH="false" flipV="false" rot="0">
              <a:off x="0" y="0"/>
              <a:ext cx="7806182" cy="7806182"/>
            </a:xfrm>
            <a:custGeom>
              <a:avLst/>
              <a:gdLst/>
              <a:ahLst/>
              <a:cxnLst/>
              <a:rect r="r" b="b" t="t" l="l"/>
              <a:pathLst>
                <a:path h="7806182" w="7806182">
                  <a:moveTo>
                    <a:pt x="0" y="0"/>
                  </a:moveTo>
                  <a:lnTo>
                    <a:pt x="7806182" y="0"/>
                  </a:lnTo>
                  <a:lnTo>
                    <a:pt x="7806182" y="7806182"/>
                  </a:lnTo>
                  <a:lnTo>
                    <a:pt x="0" y="78061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sp>
        <p:nvSpPr>
          <p:cNvPr name="Freeform 22" id="22" descr="preencoded.png"/>
          <p:cNvSpPr/>
          <p:nvPr/>
        </p:nvSpPr>
        <p:spPr>
          <a:xfrm flipH="false" flipV="false" rot="0">
            <a:off x="10426005" y="7580710"/>
            <a:ext cx="333524" cy="333524"/>
          </a:xfrm>
          <a:custGeom>
            <a:avLst/>
            <a:gdLst/>
            <a:ahLst/>
            <a:cxnLst/>
            <a:rect r="r" b="b" t="t" l="l"/>
            <a:pathLst>
              <a:path h="333524" w="333524">
                <a:moveTo>
                  <a:pt x="0" y="0"/>
                </a:moveTo>
                <a:lnTo>
                  <a:pt x="333524" y="0"/>
                </a:lnTo>
                <a:lnTo>
                  <a:pt x="333524" y="333524"/>
                </a:lnTo>
                <a:lnTo>
                  <a:pt x="0" y="333524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-52777" r="0" b="-52777"/>
            </a:stretch>
          </a:blipFill>
        </p:spPr>
      </p:sp>
      <p:sp>
        <p:nvSpPr>
          <p:cNvPr name="TextBox 23" id="23"/>
          <p:cNvSpPr txBox="true"/>
          <p:nvPr/>
        </p:nvSpPr>
        <p:spPr>
          <a:xfrm rot="0">
            <a:off x="3096071" y="7238851"/>
            <a:ext cx="2786360" cy="3577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687"/>
              </a:lnSpc>
            </a:pPr>
            <a:r>
              <a:rPr lang="en-US" sz="2187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Documentation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780157" y="7663606"/>
            <a:ext cx="5102275" cy="7798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750"/>
              </a:lnSpc>
            </a:pPr>
            <a:r>
              <a:rPr lang="en-US" sz="17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Technical documentation, reports, and presentation materials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6216700" y="3371404"/>
            <a:ext cx="5854601" cy="5854601"/>
            <a:chOff x="0" y="0"/>
            <a:chExt cx="7806135" cy="7806135"/>
          </a:xfrm>
        </p:grpSpPr>
        <p:sp>
          <p:nvSpPr>
            <p:cNvPr name="Freeform 26" id="26" descr="preencoded.png"/>
            <p:cNvSpPr/>
            <p:nvPr/>
          </p:nvSpPr>
          <p:spPr>
            <a:xfrm flipH="false" flipV="false" rot="0">
              <a:off x="0" y="0"/>
              <a:ext cx="7806182" cy="7806182"/>
            </a:xfrm>
            <a:custGeom>
              <a:avLst/>
              <a:gdLst/>
              <a:ahLst/>
              <a:cxnLst/>
              <a:rect r="r" b="b" t="t" l="l"/>
              <a:pathLst>
                <a:path h="7806182" w="7806182">
                  <a:moveTo>
                    <a:pt x="0" y="0"/>
                  </a:moveTo>
                  <a:lnTo>
                    <a:pt x="7806182" y="0"/>
                  </a:lnTo>
                  <a:lnTo>
                    <a:pt x="7806182" y="7806182"/>
                  </a:lnTo>
                  <a:lnTo>
                    <a:pt x="0" y="78061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sp>
        <p:nvSpPr>
          <p:cNvPr name="Freeform 27" id="27" descr="preencoded.png"/>
          <p:cNvSpPr/>
          <p:nvPr/>
        </p:nvSpPr>
        <p:spPr>
          <a:xfrm flipH="false" flipV="false" rot="0">
            <a:off x="7528172" y="7580710"/>
            <a:ext cx="333524" cy="333524"/>
          </a:xfrm>
          <a:custGeom>
            <a:avLst/>
            <a:gdLst/>
            <a:ahLst/>
            <a:cxnLst/>
            <a:rect r="r" b="b" t="t" l="l"/>
            <a:pathLst>
              <a:path h="333524" w="333524">
                <a:moveTo>
                  <a:pt x="0" y="0"/>
                </a:moveTo>
                <a:lnTo>
                  <a:pt x="333524" y="0"/>
                </a:lnTo>
                <a:lnTo>
                  <a:pt x="333524" y="333524"/>
                </a:lnTo>
                <a:lnTo>
                  <a:pt x="0" y="333524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-11111" r="0" b="-11111"/>
            </a:stretch>
          </a:blipFill>
        </p:spPr>
      </p:sp>
      <p:grpSp>
        <p:nvGrpSpPr>
          <p:cNvPr name="Group 28" id="28"/>
          <p:cNvGrpSpPr/>
          <p:nvPr/>
        </p:nvGrpSpPr>
        <p:grpSpPr>
          <a:xfrm rot="0">
            <a:off x="780157" y="9476780"/>
            <a:ext cx="16727686" cy="946994"/>
            <a:chOff x="0" y="0"/>
            <a:chExt cx="22303582" cy="1262658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2303612" cy="1262634"/>
            </a:xfrm>
            <a:custGeom>
              <a:avLst/>
              <a:gdLst/>
              <a:ahLst/>
              <a:cxnLst/>
              <a:rect r="r" b="b" t="t" l="l"/>
              <a:pathLst>
                <a:path h="1262634" w="22303612">
                  <a:moveTo>
                    <a:pt x="0" y="124841"/>
                  </a:moveTo>
                  <a:cubicBezTo>
                    <a:pt x="0" y="55880"/>
                    <a:pt x="55880" y="0"/>
                    <a:pt x="124841" y="0"/>
                  </a:cubicBezTo>
                  <a:lnTo>
                    <a:pt x="22178772" y="0"/>
                  </a:lnTo>
                  <a:cubicBezTo>
                    <a:pt x="22247733" y="0"/>
                    <a:pt x="22303612" y="55880"/>
                    <a:pt x="22303612" y="124841"/>
                  </a:cubicBezTo>
                  <a:lnTo>
                    <a:pt x="22303612" y="1137793"/>
                  </a:lnTo>
                  <a:cubicBezTo>
                    <a:pt x="22303612" y="1206754"/>
                    <a:pt x="22247733" y="1262634"/>
                    <a:pt x="22178772" y="1262634"/>
                  </a:cubicBezTo>
                  <a:lnTo>
                    <a:pt x="124841" y="1262634"/>
                  </a:lnTo>
                  <a:cubicBezTo>
                    <a:pt x="55880" y="1262634"/>
                    <a:pt x="0" y="1206754"/>
                    <a:pt x="0" y="1137793"/>
                  </a:cubicBezTo>
                  <a:close/>
                </a:path>
              </a:pathLst>
            </a:custGeom>
            <a:solidFill>
              <a:srgbClr val="D2D2E0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1002952" y="9807922"/>
            <a:ext cx="278606" cy="222796"/>
            <a:chOff x="0" y="0"/>
            <a:chExt cx="371475" cy="297062"/>
          </a:xfrm>
        </p:grpSpPr>
        <p:sp>
          <p:nvSpPr>
            <p:cNvPr name="Freeform 31" id="31" descr="preencoded.png"/>
            <p:cNvSpPr/>
            <p:nvPr/>
          </p:nvSpPr>
          <p:spPr>
            <a:xfrm flipH="false" flipV="false" rot="0">
              <a:off x="0" y="0"/>
              <a:ext cx="371475" cy="297053"/>
            </a:xfrm>
            <a:custGeom>
              <a:avLst/>
              <a:gdLst/>
              <a:ahLst/>
              <a:cxnLst/>
              <a:rect r="r" b="b" t="t" l="l"/>
              <a:pathLst>
                <a:path h="297053" w="371475">
                  <a:moveTo>
                    <a:pt x="0" y="0"/>
                  </a:moveTo>
                  <a:lnTo>
                    <a:pt x="371475" y="0"/>
                  </a:lnTo>
                  <a:lnTo>
                    <a:pt x="371475" y="297053"/>
                  </a:lnTo>
                  <a:lnTo>
                    <a:pt x="0" y="2970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 l="-414" t="0" r="-414" b="-2"/>
              </a:stretch>
            </a:blipFill>
          </p:spPr>
        </p:sp>
      </p:grpSp>
      <p:sp>
        <p:nvSpPr>
          <p:cNvPr name="TextBox 32" id="32"/>
          <p:cNvSpPr txBox="true"/>
          <p:nvPr/>
        </p:nvSpPr>
        <p:spPr>
          <a:xfrm rot="0">
            <a:off x="1504355" y="9688562"/>
            <a:ext cx="15780692" cy="4232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0"/>
              </a:lnSpc>
            </a:pPr>
            <a:r>
              <a:rPr lang="en-US" sz="1750" b="true">
                <a:solidFill>
                  <a:srgbClr val="000000"/>
                </a:solidFill>
                <a:latin typeface="Roboto Bold"/>
                <a:ea typeface="Roboto Bold"/>
                <a:cs typeface="Roboto Bold"/>
                <a:sym typeface="Roboto Bold"/>
              </a:rPr>
              <a:t>All project work completed by:</a:t>
            </a:r>
            <a:r>
              <a:rPr lang="en-US" sz="175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Hemanth Kumar Machani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CECF3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6" id="6"/>
          <p:cNvSpPr txBox="true"/>
          <p:nvPr/>
        </p:nvSpPr>
        <p:spPr>
          <a:xfrm rot="0">
            <a:off x="5599808" y="4671864"/>
            <a:ext cx="7088237" cy="9145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937"/>
              </a:lnSpc>
            </a:pPr>
            <a:r>
              <a:rPr lang="en-US" sz="5562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DAG50P2qtHg</dc:identifier>
  <dcterms:modified xsi:type="dcterms:W3CDTF">2011-08-01T06:04:30Z</dcterms:modified>
  <cp:revision>1</cp:revision>
  <dc:title>Student: Hemanth Kumar Machani - Y00886464 Youngstown State University</dc:title>
</cp:coreProperties>
</file>