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Raleway" pitchFamily="2" charset="77"/>
      <p:regular r:id="rId13"/>
      <p:bold r:id="rId14"/>
      <p:italic r:id="rId15"/>
      <p:boldItalic r:id="rId16"/>
    </p:embeddedFont>
    <p:embeddedFont>
      <p:font typeface="Raleway Light" pitchFamily="2" charset="77"/>
      <p:regular r:id="rId17"/>
      <p: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Roboto Bold" panose="02000000000000000000" pitchFamily="2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35" autoAdjust="0"/>
  </p:normalViewPr>
  <p:slideViewPr>
    <p:cSldViewPr>
      <p:cViewPr varScale="1">
        <p:scale>
          <a:sx n="80" d="100"/>
          <a:sy n="80" d="100"/>
        </p:scale>
        <p:origin x="82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svg"/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784360" y="3570238"/>
            <a:ext cx="6149131" cy="3146375"/>
            <a:chOff x="0" y="0"/>
            <a:chExt cx="8198842" cy="4195167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198866" cy="4195191"/>
            </a:xfrm>
            <a:custGeom>
              <a:avLst/>
              <a:gdLst/>
              <a:ahLst/>
              <a:cxnLst/>
              <a:rect l="l" t="t" r="r" b="b"/>
              <a:pathLst>
                <a:path w="8198866" h="4195191">
                  <a:moveTo>
                    <a:pt x="0" y="0"/>
                  </a:moveTo>
                  <a:lnTo>
                    <a:pt x="8198866" y="0"/>
                  </a:lnTo>
                  <a:lnTo>
                    <a:pt x="8198866" y="4195191"/>
                  </a:lnTo>
                  <a:lnTo>
                    <a:pt x="0" y="4195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2238" y="2671465"/>
            <a:ext cx="10213918" cy="823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200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Car Rental Management 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4556820"/>
            <a:ext cx="7458670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CSCI 6991 Data Engineering Capstone Project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5358259"/>
            <a:ext cx="944552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Advisor: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Dr. Robert Gilliland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7" y="5997957"/>
            <a:ext cx="9445526" cy="871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Student: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Hemanth Kumar Machani - Y00886464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Youngstown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2067222"/>
            <a:ext cx="7088237" cy="914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Project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661916"/>
            <a:ext cx="4252912" cy="56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What We Built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410372"/>
            <a:ext cx="7805886" cy="145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comprehensive, standalone Car Rental Management System designed to streamline vehicle rental operations for both customers and administrators.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6026349"/>
            <a:ext cx="7805886" cy="190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platform automates critical workflows including real-time vehicle availability searches, seamless booking processes, automated billing calculations, and comprehensive vehicle fleet management.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99401" y="3661916"/>
            <a:ext cx="4749999" cy="495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Technology Foundation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99401" y="4410372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Backend: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Java 17 with Spring Boot framework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401" y="4963120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Frontend: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JavaFX for rich desktop UI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401" y="5515868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Database: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MySQL with optimized schema design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401" y="6068616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Architecture: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MVC pattern with REST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2339429"/>
            <a:ext cx="8913762" cy="834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Background &amp; Motivation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5" y="3674417"/>
            <a:ext cx="5254973" cy="3023146"/>
            <a:chOff x="0" y="0"/>
            <a:chExt cx="7006630" cy="4030862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6993890" cy="4018153"/>
            </a:xfrm>
            <a:custGeom>
              <a:avLst/>
              <a:gdLst/>
              <a:ahLst/>
              <a:cxnLst/>
              <a:rect l="l" t="t" r="r" b="b"/>
              <a:pathLst>
                <a:path w="6993890" h="4018153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6834886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3859403"/>
                  </a:lnTo>
                  <a:cubicBezTo>
                    <a:pt x="6993890" y="3947160"/>
                    <a:pt x="6922643" y="4018153"/>
                    <a:pt x="6834886" y="4018153"/>
                  </a:cubicBezTo>
                  <a:lnTo>
                    <a:pt x="159004" y="4018153"/>
                  </a:lnTo>
                  <a:cubicBezTo>
                    <a:pt x="71247" y="4018153"/>
                    <a:pt x="0" y="3947033"/>
                    <a:pt x="0" y="3859403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7006590" cy="4030853"/>
            </a:xfrm>
            <a:custGeom>
              <a:avLst/>
              <a:gdLst/>
              <a:ahLst/>
              <a:cxnLst/>
              <a:rect l="l" t="t" r="r" b="b"/>
              <a:pathLst>
                <a:path w="7006590" h="4030853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3865753"/>
                  </a:lnTo>
                  <a:lnTo>
                    <a:pt x="7000240" y="3865753"/>
                  </a:lnTo>
                  <a:lnTo>
                    <a:pt x="7006590" y="3865753"/>
                  </a:lnTo>
                  <a:cubicBezTo>
                    <a:pt x="7006590" y="3956939"/>
                    <a:pt x="6932549" y="4030853"/>
                    <a:pt x="6841236" y="4030853"/>
                  </a:cubicBezTo>
                  <a:lnTo>
                    <a:pt x="6841236" y="4024503"/>
                  </a:lnTo>
                  <a:lnTo>
                    <a:pt x="6841236" y="4030853"/>
                  </a:lnTo>
                  <a:lnTo>
                    <a:pt x="165354" y="4030853"/>
                  </a:lnTo>
                  <a:lnTo>
                    <a:pt x="165354" y="4024503"/>
                  </a:lnTo>
                  <a:lnTo>
                    <a:pt x="165354" y="4030853"/>
                  </a:lnTo>
                  <a:cubicBezTo>
                    <a:pt x="74041" y="4030853"/>
                    <a:pt x="0" y="3956939"/>
                    <a:pt x="0" y="386575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865753"/>
                  </a:lnTo>
                  <a:lnTo>
                    <a:pt x="6350" y="3865753"/>
                  </a:lnTo>
                  <a:lnTo>
                    <a:pt x="12700" y="3865753"/>
                  </a:lnTo>
                  <a:cubicBezTo>
                    <a:pt x="12700" y="3949954"/>
                    <a:pt x="81026" y="4018153"/>
                    <a:pt x="165354" y="4018153"/>
                  </a:cubicBezTo>
                  <a:lnTo>
                    <a:pt x="6841236" y="4018153"/>
                  </a:lnTo>
                  <a:cubicBezTo>
                    <a:pt x="6925564" y="4018153"/>
                    <a:pt x="6993890" y="3949954"/>
                    <a:pt x="6993890" y="3865753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236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85280" y="3943647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Manual Limitations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5280" y="4489996"/>
            <a:ext cx="4659362" cy="190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Traditional car rental services rely heavily on manual record-keeping, leading to inefficiencies and operational bottlenecks.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16440" y="3674417"/>
            <a:ext cx="5254973" cy="3023146"/>
            <a:chOff x="0" y="0"/>
            <a:chExt cx="7006630" cy="4030862"/>
          </a:xfrm>
        </p:grpSpPr>
        <p:sp>
          <p:nvSpPr>
            <p:cNvPr id="13" name="Freeform 13"/>
            <p:cNvSpPr/>
            <p:nvPr/>
          </p:nvSpPr>
          <p:spPr>
            <a:xfrm>
              <a:off x="6350" y="6350"/>
              <a:ext cx="6993890" cy="4018153"/>
            </a:xfrm>
            <a:custGeom>
              <a:avLst/>
              <a:gdLst/>
              <a:ahLst/>
              <a:cxnLst/>
              <a:rect l="l" t="t" r="r" b="b"/>
              <a:pathLst>
                <a:path w="6993890" h="4018153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6834886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3859403"/>
                  </a:lnTo>
                  <a:cubicBezTo>
                    <a:pt x="6993890" y="3947160"/>
                    <a:pt x="6922643" y="4018153"/>
                    <a:pt x="6834886" y="4018153"/>
                  </a:cubicBezTo>
                  <a:lnTo>
                    <a:pt x="159004" y="4018153"/>
                  </a:lnTo>
                  <a:cubicBezTo>
                    <a:pt x="71247" y="4018153"/>
                    <a:pt x="0" y="3947033"/>
                    <a:pt x="0" y="3859403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7006590" cy="4030853"/>
            </a:xfrm>
            <a:custGeom>
              <a:avLst/>
              <a:gdLst/>
              <a:ahLst/>
              <a:cxnLst/>
              <a:rect l="l" t="t" r="r" b="b"/>
              <a:pathLst>
                <a:path w="7006590" h="4030853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3865753"/>
                  </a:lnTo>
                  <a:lnTo>
                    <a:pt x="7000240" y="3865753"/>
                  </a:lnTo>
                  <a:lnTo>
                    <a:pt x="7006590" y="3865753"/>
                  </a:lnTo>
                  <a:cubicBezTo>
                    <a:pt x="7006590" y="3956939"/>
                    <a:pt x="6932549" y="4030853"/>
                    <a:pt x="6841236" y="4030853"/>
                  </a:cubicBezTo>
                  <a:lnTo>
                    <a:pt x="6841236" y="4024503"/>
                  </a:lnTo>
                  <a:lnTo>
                    <a:pt x="6841236" y="4030853"/>
                  </a:lnTo>
                  <a:lnTo>
                    <a:pt x="165354" y="4030853"/>
                  </a:lnTo>
                  <a:lnTo>
                    <a:pt x="165354" y="4024503"/>
                  </a:lnTo>
                  <a:lnTo>
                    <a:pt x="165354" y="4030853"/>
                  </a:lnTo>
                  <a:cubicBezTo>
                    <a:pt x="74041" y="4030853"/>
                    <a:pt x="0" y="3956939"/>
                    <a:pt x="0" y="386575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865753"/>
                  </a:lnTo>
                  <a:lnTo>
                    <a:pt x="6350" y="3865753"/>
                  </a:lnTo>
                  <a:lnTo>
                    <a:pt x="12700" y="3865753"/>
                  </a:lnTo>
                  <a:cubicBezTo>
                    <a:pt x="12700" y="3949954"/>
                    <a:pt x="81026" y="4018153"/>
                    <a:pt x="165354" y="4018153"/>
                  </a:cubicBezTo>
                  <a:lnTo>
                    <a:pt x="6841236" y="4018153"/>
                  </a:lnTo>
                  <a:cubicBezTo>
                    <a:pt x="6925564" y="4018153"/>
                    <a:pt x="6993890" y="3949954"/>
                    <a:pt x="6993890" y="3865753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236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814245" y="3943647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Time &amp; Error Costs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14245" y="4489996"/>
            <a:ext cx="4659362" cy="190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Manual processes increase processing time, introduce human errors, and create significant challenges when scaling operations.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045404" y="3674417"/>
            <a:ext cx="5254973" cy="3023146"/>
            <a:chOff x="0" y="0"/>
            <a:chExt cx="7006630" cy="4030862"/>
          </a:xfrm>
        </p:grpSpPr>
        <p:sp>
          <p:nvSpPr>
            <p:cNvPr id="18" name="Freeform 18"/>
            <p:cNvSpPr/>
            <p:nvPr/>
          </p:nvSpPr>
          <p:spPr>
            <a:xfrm>
              <a:off x="6350" y="6350"/>
              <a:ext cx="6993890" cy="4018153"/>
            </a:xfrm>
            <a:custGeom>
              <a:avLst/>
              <a:gdLst/>
              <a:ahLst/>
              <a:cxnLst/>
              <a:rect l="l" t="t" r="r" b="b"/>
              <a:pathLst>
                <a:path w="6993890" h="4018153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6834886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3859403"/>
                  </a:lnTo>
                  <a:cubicBezTo>
                    <a:pt x="6993890" y="3947160"/>
                    <a:pt x="6922643" y="4018153"/>
                    <a:pt x="6834886" y="4018153"/>
                  </a:cubicBezTo>
                  <a:lnTo>
                    <a:pt x="159004" y="4018153"/>
                  </a:lnTo>
                  <a:cubicBezTo>
                    <a:pt x="71247" y="4018153"/>
                    <a:pt x="0" y="3947033"/>
                    <a:pt x="0" y="3859403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7006590" cy="4030853"/>
            </a:xfrm>
            <a:custGeom>
              <a:avLst/>
              <a:gdLst/>
              <a:ahLst/>
              <a:cxnLst/>
              <a:rect l="l" t="t" r="r" b="b"/>
              <a:pathLst>
                <a:path w="7006590" h="4030853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3865753"/>
                  </a:lnTo>
                  <a:lnTo>
                    <a:pt x="7000240" y="3865753"/>
                  </a:lnTo>
                  <a:lnTo>
                    <a:pt x="7006590" y="3865753"/>
                  </a:lnTo>
                  <a:cubicBezTo>
                    <a:pt x="7006590" y="3956939"/>
                    <a:pt x="6932549" y="4030853"/>
                    <a:pt x="6841236" y="4030853"/>
                  </a:cubicBezTo>
                  <a:lnTo>
                    <a:pt x="6841236" y="4024503"/>
                  </a:lnTo>
                  <a:lnTo>
                    <a:pt x="6841236" y="4030853"/>
                  </a:lnTo>
                  <a:lnTo>
                    <a:pt x="165354" y="4030853"/>
                  </a:lnTo>
                  <a:lnTo>
                    <a:pt x="165354" y="4024503"/>
                  </a:lnTo>
                  <a:lnTo>
                    <a:pt x="165354" y="4030853"/>
                  </a:lnTo>
                  <a:cubicBezTo>
                    <a:pt x="74041" y="4030853"/>
                    <a:pt x="0" y="3956939"/>
                    <a:pt x="0" y="386575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865753"/>
                  </a:lnTo>
                  <a:lnTo>
                    <a:pt x="6350" y="3865753"/>
                  </a:lnTo>
                  <a:lnTo>
                    <a:pt x="12700" y="3865753"/>
                  </a:lnTo>
                  <a:cubicBezTo>
                    <a:pt x="12700" y="3949954"/>
                    <a:pt x="81026" y="4018153"/>
                    <a:pt x="165354" y="4018153"/>
                  </a:cubicBezTo>
                  <a:lnTo>
                    <a:pt x="6841236" y="4018153"/>
                  </a:lnTo>
                  <a:cubicBezTo>
                    <a:pt x="6925564" y="4018153"/>
                    <a:pt x="6993890" y="3949954"/>
                    <a:pt x="6993890" y="3865753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236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343210" y="3943647"/>
            <a:ext cx="3559225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Digital Transformation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43210" y="4489996"/>
            <a:ext cx="4659362" cy="190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Software-based automation dramatically improves operational efficiency, data accuracy, and overall user experience.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2238" y="6916490"/>
            <a:ext cx="1630352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Modern car rental platforms like Enterprise and Turo demonstrate the power of digital transformation in the rental industry, inspiring our system architecture and feature 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540817"/>
            <a:ext cx="9142362" cy="834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Problem We're Solving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73188" y="3003351"/>
            <a:ext cx="8048030" cy="2743944"/>
            <a:chOff x="0" y="0"/>
            <a:chExt cx="10730707" cy="3658592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10679938" cy="3607816"/>
            </a:xfrm>
            <a:custGeom>
              <a:avLst/>
              <a:gdLst/>
              <a:ahLst/>
              <a:cxnLst/>
              <a:rect l="l" t="t" r="r" b="b"/>
              <a:pathLst>
                <a:path w="10679938" h="3607816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10433812" y="0"/>
                  </a:lnTo>
                  <a:cubicBezTo>
                    <a:pt x="10569702" y="0"/>
                    <a:pt x="10679938" y="109220"/>
                    <a:pt x="10679938" y="243840"/>
                  </a:cubicBezTo>
                  <a:lnTo>
                    <a:pt x="10679938" y="3363976"/>
                  </a:lnTo>
                  <a:cubicBezTo>
                    <a:pt x="10679938" y="3498596"/>
                    <a:pt x="10569702" y="3607816"/>
                    <a:pt x="10433812" y="3607816"/>
                  </a:cubicBezTo>
                  <a:lnTo>
                    <a:pt x="246126" y="3607816"/>
                  </a:lnTo>
                  <a:cubicBezTo>
                    <a:pt x="110236" y="3607816"/>
                    <a:pt x="0" y="3498596"/>
                    <a:pt x="0" y="3363976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10730738" cy="3658616"/>
            </a:xfrm>
            <a:custGeom>
              <a:avLst/>
              <a:gdLst/>
              <a:ahLst/>
              <a:cxnLst/>
              <a:rect l="l" t="t" r="r" b="b"/>
              <a:pathLst>
                <a:path w="10730738" h="3658616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10459212" y="0"/>
                  </a:lnTo>
                  <a:lnTo>
                    <a:pt x="10459212" y="25400"/>
                  </a:lnTo>
                  <a:lnTo>
                    <a:pt x="10459212" y="0"/>
                  </a:lnTo>
                  <a:cubicBezTo>
                    <a:pt x="10608945" y="0"/>
                    <a:pt x="10730738" y="120269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3389376"/>
                  </a:lnTo>
                  <a:lnTo>
                    <a:pt x="10705338" y="3389376"/>
                  </a:lnTo>
                  <a:lnTo>
                    <a:pt x="10730738" y="3389376"/>
                  </a:lnTo>
                  <a:cubicBezTo>
                    <a:pt x="10730738" y="3538347"/>
                    <a:pt x="10608945" y="3658616"/>
                    <a:pt x="10459212" y="3658616"/>
                  </a:cubicBezTo>
                  <a:lnTo>
                    <a:pt x="10459212" y="3633216"/>
                  </a:lnTo>
                  <a:lnTo>
                    <a:pt x="10459212" y="3658616"/>
                  </a:lnTo>
                  <a:lnTo>
                    <a:pt x="271526" y="3658616"/>
                  </a:lnTo>
                  <a:lnTo>
                    <a:pt x="271526" y="3633216"/>
                  </a:lnTo>
                  <a:lnTo>
                    <a:pt x="271526" y="3658616"/>
                  </a:lnTo>
                  <a:cubicBezTo>
                    <a:pt x="121793" y="3658616"/>
                    <a:pt x="0" y="3538220"/>
                    <a:pt x="0" y="3389376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389376"/>
                  </a:lnTo>
                  <a:lnTo>
                    <a:pt x="25400" y="3389376"/>
                  </a:lnTo>
                  <a:lnTo>
                    <a:pt x="50800" y="3389376"/>
                  </a:lnTo>
                  <a:cubicBezTo>
                    <a:pt x="50800" y="3509772"/>
                    <a:pt x="149352" y="3607816"/>
                    <a:pt x="271526" y="3607816"/>
                  </a:cubicBezTo>
                  <a:lnTo>
                    <a:pt x="10459212" y="3607816"/>
                  </a:lnTo>
                  <a:cubicBezTo>
                    <a:pt x="10581386" y="3607816"/>
                    <a:pt x="10679938" y="3509772"/>
                    <a:pt x="10679938" y="3389376"/>
                  </a:cubicBezTo>
                  <a:lnTo>
                    <a:pt x="10679938" y="269240"/>
                  </a:lnTo>
                  <a:cubicBezTo>
                    <a:pt x="10679938" y="148844"/>
                    <a:pt x="10581386" y="50800"/>
                    <a:pt x="10459212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4138" y="3022401"/>
            <a:ext cx="152400" cy="2705844"/>
            <a:chOff x="0" y="0"/>
            <a:chExt cx="203200" cy="36077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200" cy="3607816"/>
            </a:xfrm>
            <a:custGeom>
              <a:avLst/>
              <a:gdLst/>
              <a:ahLst/>
              <a:cxnLst/>
              <a:rect l="l" t="t" r="r" b="b"/>
              <a:pathLst>
                <a:path w="203200" h="3607816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506216"/>
                  </a:lnTo>
                  <a:cubicBezTo>
                    <a:pt x="203200" y="3562350"/>
                    <a:pt x="157734" y="3607816"/>
                    <a:pt x="101600" y="3607816"/>
                  </a:cubicBezTo>
                  <a:cubicBezTo>
                    <a:pt x="45466" y="3607816"/>
                    <a:pt x="0" y="3562350"/>
                    <a:pt x="0" y="3506216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28155" y="3315444"/>
            <a:ext cx="4809976" cy="56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Disorganized Operations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8155" y="3950494"/>
            <a:ext cx="7252395" cy="145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Without digitization, car rental procedures become chaotic and difficult to manage effectively, leading to customer dissatisfaction and lost revenue.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66635" y="3003351"/>
            <a:ext cx="8048179" cy="2743944"/>
            <a:chOff x="0" y="0"/>
            <a:chExt cx="10730905" cy="3658592"/>
          </a:xfrm>
        </p:grpSpPr>
        <p:sp>
          <p:nvSpPr>
            <p:cNvPr id="15" name="Freeform 15"/>
            <p:cNvSpPr/>
            <p:nvPr/>
          </p:nvSpPr>
          <p:spPr>
            <a:xfrm>
              <a:off x="25400" y="25400"/>
              <a:ext cx="10680192" cy="3607816"/>
            </a:xfrm>
            <a:custGeom>
              <a:avLst/>
              <a:gdLst/>
              <a:ahLst/>
              <a:cxnLst/>
              <a:rect l="l" t="t" r="r" b="b"/>
              <a:pathLst>
                <a:path w="10680192" h="3607816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10434066" y="0"/>
                  </a:lnTo>
                  <a:cubicBezTo>
                    <a:pt x="10569956" y="0"/>
                    <a:pt x="10680192" y="109220"/>
                    <a:pt x="10680192" y="243840"/>
                  </a:cubicBezTo>
                  <a:lnTo>
                    <a:pt x="10680192" y="3363976"/>
                  </a:lnTo>
                  <a:cubicBezTo>
                    <a:pt x="10680192" y="3498596"/>
                    <a:pt x="10569956" y="3607816"/>
                    <a:pt x="10434066" y="3607816"/>
                  </a:cubicBezTo>
                  <a:lnTo>
                    <a:pt x="246126" y="3607816"/>
                  </a:lnTo>
                  <a:cubicBezTo>
                    <a:pt x="110236" y="3607816"/>
                    <a:pt x="0" y="3498596"/>
                    <a:pt x="0" y="3363976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0730992" cy="3658616"/>
            </a:xfrm>
            <a:custGeom>
              <a:avLst/>
              <a:gdLst/>
              <a:ahLst/>
              <a:cxnLst/>
              <a:rect l="l" t="t" r="r" b="b"/>
              <a:pathLst>
                <a:path w="10730992" h="3658616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10459466" y="0"/>
                  </a:lnTo>
                  <a:lnTo>
                    <a:pt x="10459466" y="25400"/>
                  </a:lnTo>
                  <a:lnTo>
                    <a:pt x="10459466" y="0"/>
                  </a:lnTo>
                  <a:cubicBezTo>
                    <a:pt x="10609199" y="0"/>
                    <a:pt x="10730992" y="120269"/>
                    <a:pt x="10730992" y="269240"/>
                  </a:cubicBezTo>
                  <a:lnTo>
                    <a:pt x="10705592" y="269240"/>
                  </a:lnTo>
                  <a:lnTo>
                    <a:pt x="10730992" y="269240"/>
                  </a:lnTo>
                  <a:lnTo>
                    <a:pt x="10730992" y="3389376"/>
                  </a:lnTo>
                  <a:lnTo>
                    <a:pt x="10705592" y="3389376"/>
                  </a:lnTo>
                  <a:lnTo>
                    <a:pt x="10730992" y="3389376"/>
                  </a:lnTo>
                  <a:cubicBezTo>
                    <a:pt x="10730992" y="3538347"/>
                    <a:pt x="10609199" y="3658616"/>
                    <a:pt x="10459466" y="3658616"/>
                  </a:cubicBezTo>
                  <a:lnTo>
                    <a:pt x="10459466" y="3633216"/>
                  </a:lnTo>
                  <a:lnTo>
                    <a:pt x="10459466" y="3658616"/>
                  </a:lnTo>
                  <a:lnTo>
                    <a:pt x="271526" y="3658616"/>
                  </a:lnTo>
                  <a:lnTo>
                    <a:pt x="271526" y="3633216"/>
                  </a:lnTo>
                  <a:lnTo>
                    <a:pt x="271526" y="3658616"/>
                  </a:lnTo>
                  <a:cubicBezTo>
                    <a:pt x="121793" y="3658616"/>
                    <a:pt x="0" y="3538220"/>
                    <a:pt x="0" y="3389376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389376"/>
                  </a:lnTo>
                  <a:lnTo>
                    <a:pt x="25400" y="3389376"/>
                  </a:lnTo>
                  <a:lnTo>
                    <a:pt x="50800" y="3389376"/>
                  </a:lnTo>
                  <a:cubicBezTo>
                    <a:pt x="50800" y="3509772"/>
                    <a:pt x="149352" y="3607816"/>
                    <a:pt x="271526" y="3607816"/>
                  </a:cubicBezTo>
                  <a:lnTo>
                    <a:pt x="10459466" y="3607816"/>
                  </a:lnTo>
                  <a:cubicBezTo>
                    <a:pt x="10581640" y="3607816"/>
                    <a:pt x="10680192" y="3509772"/>
                    <a:pt x="10680192" y="3389376"/>
                  </a:cubicBezTo>
                  <a:lnTo>
                    <a:pt x="10680192" y="269240"/>
                  </a:lnTo>
                  <a:cubicBezTo>
                    <a:pt x="10680192" y="148844"/>
                    <a:pt x="10581640" y="50800"/>
                    <a:pt x="10459466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47584" y="3022401"/>
            <a:ext cx="152400" cy="2705844"/>
            <a:chOff x="0" y="0"/>
            <a:chExt cx="203200" cy="36077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3200" cy="3607816"/>
            </a:xfrm>
            <a:custGeom>
              <a:avLst/>
              <a:gdLst/>
              <a:ahLst/>
              <a:cxnLst/>
              <a:rect l="l" t="t" r="r" b="b"/>
              <a:pathLst>
                <a:path w="203200" h="3607816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506216"/>
                  </a:lnTo>
                  <a:cubicBezTo>
                    <a:pt x="203200" y="3562350"/>
                    <a:pt x="157734" y="3607816"/>
                    <a:pt x="101600" y="3607816"/>
                  </a:cubicBezTo>
                  <a:cubicBezTo>
                    <a:pt x="45466" y="3607816"/>
                    <a:pt x="0" y="3562350"/>
                    <a:pt x="0" y="3506216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721602" y="3315444"/>
            <a:ext cx="4252912" cy="56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Limited Visibility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21602" y="3950494"/>
            <a:ext cx="7252544" cy="145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Customers struggle to check real-time vehicle availability, often resulting in frustrating phone calls and wasted time for both parties.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73188" y="5992714"/>
            <a:ext cx="8048030" cy="2743944"/>
            <a:chOff x="0" y="0"/>
            <a:chExt cx="10730707" cy="3658592"/>
          </a:xfrm>
        </p:grpSpPr>
        <p:sp>
          <p:nvSpPr>
            <p:cNvPr id="22" name="Freeform 22"/>
            <p:cNvSpPr/>
            <p:nvPr/>
          </p:nvSpPr>
          <p:spPr>
            <a:xfrm>
              <a:off x="25400" y="25400"/>
              <a:ext cx="10679938" cy="3607816"/>
            </a:xfrm>
            <a:custGeom>
              <a:avLst/>
              <a:gdLst/>
              <a:ahLst/>
              <a:cxnLst/>
              <a:rect l="l" t="t" r="r" b="b"/>
              <a:pathLst>
                <a:path w="10679938" h="3607816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10433812" y="0"/>
                  </a:lnTo>
                  <a:cubicBezTo>
                    <a:pt x="10569702" y="0"/>
                    <a:pt x="10679938" y="109220"/>
                    <a:pt x="10679938" y="243840"/>
                  </a:cubicBezTo>
                  <a:lnTo>
                    <a:pt x="10679938" y="3363976"/>
                  </a:lnTo>
                  <a:cubicBezTo>
                    <a:pt x="10679938" y="3498596"/>
                    <a:pt x="10569702" y="3607816"/>
                    <a:pt x="10433812" y="3607816"/>
                  </a:cubicBezTo>
                  <a:lnTo>
                    <a:pt x="246126" y="3607816"/>
                  </a:lnTo>
                  <a:cubicBezTo>
                    <a:pt x="110236" y="3607816"/>
                    <a:pt x="0" y="3498596"/>
                    <a:pt x="0" y="3363976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10730738" cy="3658616"/>
            </a:xfrm>
            <a:custGeom>
              <a:avLst/>
              <a:gdLst/>
              <a:ahLst/>
              <a:cxnLst/>
              <a:rect l="l" t="t" r="r" b="b"/>
              <a:pathLst>
                <a:path w="10730738" h="3658616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10459212" y="0"/>
                  </a:lnTo>
                  <a:lnTo>
                    <a:pt x="10459212" y="25400"/>
                  </a:lnTo>
                  <a:lnTo>
                    <a:pt x="10459212" y="0"/>
                  </a:lnTo>
                  <a:cubicBezTo>
                    <a:pt x="10608945" y="0"/>
                    <a:pt x="10730738" y="120269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3389376"/>
                  </a:lnTo>
                  <a:lnTo>
                    <a:pt x="10705338" y="3389376"/>
                  </a:lnTo>
                  <a:lnTo>
                    <a:pt x="10730738" y="3389376"/>
                  </a:lnTo>
                  <a:cubicBezTo>
                    <a:pt x="10730738" y="3538347"/>
                    <a:pt x="10608945" y="3658616"/>
                    <a:pt x="10459212" y="3658616"/>
                  </a:cubicBezTo>
                  <a:lnTo>
                    <a:pt x="10459212" y="3633216"/>
                  </a:lnTo>
                  <a:lnTo>
                    <a:pt x="10459212" y="3658616"/>
                  </a:lnTo>
                  <a:lnTo>
                    <a:pt x="271526" y="3658616"/>
                  </a:lnTo>
                  <a:lnTo>
                    <a:pt x="271526" y="3633216"/>
                  </a:lnTo>
                  <a:lnTo>
                    <a:pt x="271526" y="3658616"/>
                  </a:lnTo>
                  <a:cubicBezTo>
                    <a:pt x="121793" y="3658616"/>
                    <a:pt x="0" y="3538220"/>
                    <a:pt x="0" y="3389376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389376"/>
                  </a:lnTo>
                  <a:lnTo>
                    <a:pt x="25400" y="3389376"/>
                  </a:lnTo>
                  <a:lnTo>
                    <a:pt x="50800" y="3389376"/>
                  </a:lnTo>
                  <a:cubicBezTo>
                    <a:pt x="50800" y="3509772"/>
                    <a:pt x="149352" y="3607816"/>
                    <a:pt x="271526" y="3607816"/>
                  </a:cubicBezTo>
                  <a:lnTo>
                    <a:pt x="10459212" y="3607816"/>
                  </a:lnTo>
                  <a:cubicBezTo>
                    <a:pt x="10581386" y="3607816"/>
                    <a:pt x="10679938" y="3509772"/>
                    <a:pt x="10679938" y="3389376"/>
                  </a:cubicBezTo>
                  <a:lnTo>
                    <a:pt x="10679938" y="269240"/>
                  </a:lnTo>
                  <a:cubicBezTo>
                    <a:pt x="10679938" y="148844"/>
                    <a:pt x="10581386" y="50800"/>
                    <a:pt x="10459212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54138" y="6011764"/>
            <a:ext cx="152400" cy="2705844"/>
            <a:chOff x="0" y="0"/>
            <a:chExt cx="203200" cy="360779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3200" cy="3607816"/>
            </a:xfrm>
            <a:custGeom>
              <a:avLst/>
              <a:gdLst/>
              <a:ahLst/>
              <a:cxnLst/>
              <a:rect l="l" t="t" r="r" b="b"/>
              <a:pathLst>
                <a:path w="203200" h="3607816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506216"/>
                  </a:lnTo>
                  <a:cubicBezTo>
                    <a:pt x="203200" y="3562350"/>
                    <a:pt x="157734" y="3607816"/>
                    <a:pt x="101600" y="3607816"/>
                  </a:cubicBezTo>
                  <a:cubicBezTo>
                    <a:pt x="45466" y="3607816"/>
                    <a:pt x="0" y="3562350"/>
                    <a:pt x="0" y="3506216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428155" y="6304806"/>
            <a:ext cx="4349055" cy="56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Administrative Burden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28155" y="6939855"/>
            <a:ext cx="7252395" cy="145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Administrators manually manage extensive datasets including vehicle inventories, booking records, return schedules, and complex billing calculations.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266635" y="5992714"/>
            <a:ext cx="8048179" cy="2743944"/>
            <a:chOff x="0" y="0"/>
            <a:chExt cx="10730905" cy="3658592"/>
          </a:xfrm>
        </p:grpSpPr>
        <p:sp>
          <p:nvSpPr>
            <p:cNvPr id="29" name="Freeform 29"/>
            <p:cNvSpPr/>
            <p:nvPr/>
          </p:nvSpPr>
          <p:spPr>
            <a:xfrm>
              <a:off x="25400" y="25400"/>
              <a:ext cx="10680192" cy="3607816"/>
            </a:xfrm>
            <a:custGeom>
              <a:avLst/>
              <a:gdLst/>
              <a:ahLst/>
              <a:cxnLst/>
              <a:rect l="l" t="t" r="r" b="b"/>
              <a:pathLst>
                <a:path w="10680192" h="3607816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10434066" y="0"/>
                  </a:lnTo>
                  <a:cubicBezTo>
                    <a:pt x="10569956" y="0"/>
                    <a:pt x="10680192" y="109220"/>
                    <a:pt x="10680192" y="243840"/>
                  </a:cubicBezTo>
                  <a:lnTo>
                    <a:pt x="10680192" y="3363976"/>
                  </a:lnTo>
                  <a:cubicBezTo>
                    <a:pt x="10680192" y="3498596"/>
                    <a:pt x="10569956" y="3607816"/>
                    <a:pt x="10434066" y="3607816"/>
                  </a:cubicBezTo>
                  <a:lnTo>
                    <a:pt x="246126" y="3607816"/>
                  </a:lnTo>
                  <a:cubicBezTo>
                    <a:pt x="110236" y="3607816"/>
                    <a:pt x="0" y="3498596"/>
                    <a:pt x="0" y="3363976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0"/>
              <a:ext cx="10730992" cy="3658616"/>
            </a:xfrm>
            <a:custGeom>
              <a:avLst/>
              <a:gdLst/>
              <a:ahLst/>
              <a:cxnLst/>
              <a:rect l="l" t="t" r="r" b="b"/>
              <a:pathLst>
                <a:path w="10730992" h="3658616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10459466" y="0"/>
                  </a:lnTo>
                  <a:lnTo>
                    <a:pt x="10459466" y="25400"/>
                  </a:lnTo>
                  <a:lnTo>
                    <a:pt x="10459466" y="0"/>
                  </a:lnTo>
                  <a:cubicBezTo>
                    <a:pt x="10609199" y="0"/>
                    <a:pt x="10730992" y="120269"/>
                    <a:pt x="10730992" y="269240"/>
                  </a:cubicBezTo>
                  <a:lnTo>
                    <a:pt x="10705592" y="269240"/>
                  </a:lnTo>
                  <a:lnTo>
                    <a:pt x="10730992" y="269240"/>
                  </a:lnTo>
                  <a:lnTo>
                    <a:pt x="10730992" y="3389376"/>
                  </a:lnTo>
                  <a:lnTo>
                    <a:pt x="10705592" y="3389376"/>
                  </a:lnTo>
                  <a:lnTo>
                    <a:pt x="10730992" y="3389376"/>
                  </a:lnTo>
                  <a:cubicBezTo>
                    <a:pt x="10730992" y="3538347"/>
                    <a:pt x="10609199" y="3658616"/>
                    <a:pt x="10459466" y="3658616"/>
                  </a:cubicBezTo>
                  <a:lnTo>
                    <a:pt x="10459466" y="3633216"/>
                  </a:lnTo>
                  <a:lnTo>
                    <a:pt x="10459466" y="3658616"/>
                  </a:lnTo>
                  <a:lnTo>
                    <a:pt x="271526" y="3658616"/>
                  </a:lnTo>
                  <a:lnTo>
                    <a:pt x="271526" y="3633216"/>
                  </a:lnTo>
                  <a:lnTo>
                    <a:pt x="271526" y="3658616"/>
                  </a:lnTo>
                  <a:cubicBezTo>
                    <a:pt x="121793" y="3658616"/>
                    <a:pt x="0" y="3538220"/>
                    <a:pt x="0" y="3389376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389376"/>
                  </a:lnTo>
                  <a:lnTo>
                    <a:pt x="25400" y="3389376"/>
                  </a:lnTo>
                  <a:lnTo>
                    <a:pt x="50800" y="3389376"/>
                  </a:lnTo>
                  <a:cubicBezTo>
                    <a:pt x="50800" y="3509772"/>
                    <a:pt x="149352" y="3607816"/>
                    <a:pt x="271526" y="3607816"/>
                  </a:cubicBezTo>
                  <a:lnTo>
                    <a:pt x="10459466" y="3607816"/>
                  </a:lnTo>
                  <a:cubicBezTo>
                    <a:pt x="10581640" y="3607816"/>
                    <a:pt x="10680192" y="3509772"/>
                    <a:pt x="10680192" y="3389376"/>
                  </a:cubicBezTo>
                  <a:lnTo>
                    <a:pt x="10680192" y="269240"/>
                  </a:lnTo>
                  <a:cubicBezTo>
                    <a:pt x="10680192" y="148844"/>
                    <a:pt x="10581640" y="50800"/>
                    <a:pt x="10459466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247584" y="6011764"/>
            <a:ext cx="152400" cy="2705844"/>
            <a:chOff x="0" y="0"/>
            <a:chExt cx="203200" cy="360779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3200" cy="3607816"/>
            </a:xfrm>
            <a:custGeom>
              <a:avLst/>
              <a:gdLst/>
              <a:ahLst/>
              <a:cxnLst/>
              <a:rect l="l" t="t" r="r" b="b"/>
              <a:pathLst>
                <a:path w="203200" h="3607816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506216"/>
                  </a:lnTo>
                  <a:cubicBezTo>
                    <a:pt x="203200" y="3562350"/>
                    <a:pt x="157734" y="3607816"/>
                    <a:pt x="101600" y="3607816"/>
                  </a:cubicBezTo>
                  <a:cubicBezTo>
                    <a:pt x="45466" y="3607816"/>
                    <a:pt x="0" y="3562350"/>
                    <a:pt x="0" y="3506216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721602" y="6304806"/>
            <a:ext cx="4252912" cy="56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Our Solution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721602" y="6939855"/>
            <a:ext cx="7252544" cy="145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centralized, automated management system that eliminates inefficiencies and creates a seamless experience for all stakeholders.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55315" y="633859"/>
            <a:ext cx="10210651" cy="801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7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System Architecture &amp; Methodology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5315" y="2027485"/>
            <a:ext cx="3665636" cy="477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4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Technology Stack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5315" y="2663279"/>
            <a:ext cx="6273105" cy="476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Java 17</a:t>
            </a: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for robust backend logic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5315" y="3139679"/>
            <a:ext cx="6273105" cy="476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Spring Boot</a:t>
            </a: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for rapid development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5315" y="3616077"/>
            <a:ext cx="6273105" cy="476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JavaFX</a:t>
            </a: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for rich desktop UI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5315" y="4092476"/>
            <a:ext cx="6273105" cy="476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MySQL</a:t>
            </a: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for reliable data storage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5315" y="4568875"/>
            <a:ext cx="6273105" cy="476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MVC Architecture</a:t>
            </a: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with REST services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5315" y="5045274"/>
            <a:ext cx="6273105" cy="476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GitHub</a:t>
            </a: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for version control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34151" y="2027485"/>
            <a:ext cx="4153049" cy="434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4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Development Process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34151" y="2693789"/>
            <a:ext cx="244376" cy="391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01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734151" y="3166170"/>
            <a:ext cx="4731692" cy="28575"/>
            <a:chOff x="0" y="0"/>
            <a:chExt cx="6308923" cy="38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08979" cy="38100"/>
            </a:xfrm>
            <a:custGeom>
              <a:avLst/>
              <a:gdLst/>
              <a:ahLst/>
              <a:cxnLst/>
              <a:rect l="l" t="t" r="r" b="b"/>
              <a:pathLst>
                <a:path w="6308979" h="38100">
                  <a:moveTo>
                    <a:pt x="0" y="0"/>
                  </a:moveTo>
                  <a:lnTo>
                    <a:pt x="6308979" y="0"/>
                  </a:lnTo>
                  <a:lnTo>
                    <a:pt x="630897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734151" y="3316932"/>
            <a:ext cx="3566517" cy="410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Requirements &amp; Planning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34151" y="3886051"/>
            <a:ext cx="4731692" cy="86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Analyzed needs and defined system specifications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10220" y="2693789"/>
            <a:ext cx="396180" cy="355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 dirty="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02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710220" y="3166170"/>
            <a:ext cx="4731841" cy="28575"/>
            <a:chOff x="0" y="0"/>
            <a:chExt cx="6309122" cy="381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09106" cy="38100"/>
            </a:xfrm>
            <a:custGeom>
              <a:avLst/>
              <a:gdLst/>
              <a:ahLst/>
              <a:cxnLst/>
              <a:rect l="l" t="t" r="r" b="b"/>
              <a:pathLst>
                <a:path w="6309106" h="38100">
                  <a:moveTo>
                    <a:pt x="0" y="0"/>
                  </a:moveTo>
                  <a:lnTo>
                    <a:pt x="6309106" y="0"/>
                  </a:lnTo>
                  <a:lnTo>
                    <a:pt x="630910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710220" y="3316932"/>
            <a:ext cx="3054697" cy="410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Design Phase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10220" y="3886051"/>
            <a:ext cx="4731841" cy="476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Created UI mockups and database schema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34150" y="5095577"/>
            <a:ext cx="419249" cy="355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 dirty="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03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734151" y="5567958"/>
            <a:ext cx="4731692" cy="28575"/>
            <a:chOff x="0" y="0"/>
            <a:chExt cx="6308923" cy="381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08979" cy="38100"/>
            </a:xfrm>
            <a:custGeom>
              <a:avLst/>
              <a:gdLst/>
              <a:ahLst/>
              <a:cxnLst/>
              <a:rect l="l" t="t" r="r" b="b"/>
              <a:pathLst>
                <a:path w="6308979" h="38100">
                  <a:moveTo>
                    <a:pt x="0" y="0"/>
                  </a:moveTo>
                  <a:lnTo>
                    <a:pt x="6308979" y="0"/>
                  </a:lnTo>
                  <a:lnTo>
                    <a:pt x="630897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7734151" y="5718721"/>
            <a:ext cx="3397300" cy="410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Feature Implementation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34151" y="6287840"/>
            <a:ext cx="4731692" cy="476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Built modules incrementally with testing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710220" y="5095577"/>
            <a:ext cx="396180" cy="355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 dirty="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04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710220" y="5567958"/>
            <a:ext cx="4731841" cy="28575"/>
            <a:chOff x="0" y="0"/>
            <a:chExt cx="6309122" cy="381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309106" cy="38100"/>
            </a:xfrm>
            <a:custGeom>
              <a:avLst/>
              <a:gdLst/>
              <a:ahLst/>
              <a:cxnLst/>
              <a:rect l="l" t="t" r="r" b="b"/>
              <a:pathLst>
                <a:path w="6309106" h="38100">
                  <a:moveTo>
                    <a:pt x="0" y="0"/>
                  </a:moveTo>
                  <a:lnTo>
                    <a:pt x="6309106" y="0"/>
                  </a:lnTo>
                  <a:lnTo>
                    <a:pt x="630910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2710220" y="5718721"/>
            <a:ext cx="3054697" cy="410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Validation &amp; Testing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710220" y="6287840"/>
            <a:ext cx="4731841" cy="86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Comprehensive quality assurance procedures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34151" y="7497366"/>
            <a:ext cx="419248" cy="355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 dirty="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05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7734151" y="7969746"/>
            <a:ext cx="9707910" cy="28575"/>
            <a:chOff x="0" y="0"/>
            <a:chExt cx="12943880" cy="381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943840" cy="38100"/>
            </a:xfrm>
            <a:custGeom>
              <a:avLst/>
              <a:gdLst/>
              <a:ahLst/>
              <a:cxnLst/>
              <a:rect l="l" t="t" r="r" b="b"/>
              <a:pathLst>
                <a:path w="12943840" h="38100">
                  <a:moveTo>
                    <a:pt x="0" y="0"/>
                  </a:moveTo>
                  <a:lnTo>
                    <a:pt x="12943840" y="0"/>
                  </a:lnTo>
                  <a:lnTo>
                    <a:pt x="1294384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734151" y="8120509"/>
            <a:ext cx="3299222" cy="410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Deployment Packaging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734151" y="8689627"/>
            <a:ext cx="9707910" cy="476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Final optimization and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18084" y="458837"/>
            <a:ext cx="7042994" cy="580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437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Implementation &amp; Testing Strategy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8084" y="1584424"/>
            <a:ext cx="2224831" cy="30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Module Development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18084" y="1937445"/>
            <a:ext cx="8415486" cy="33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Each core module was built independently with isolated unit testing to ensure reliability and maintainability.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54281" y="1584424"/>
            <a:ext cx="2207419" cy="30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CRUD Validation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54281" y="1937445"/>
            <a:ext cx="8415635" cy="622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Comprehensive validation of Create, Read, Update, and Delete operations across users, vehicles, and bookings.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8084" y="2805559"/>
            <a:ext cx="3592860" cy="350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End-to-End Workflow Testing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18084" y="3420516"/>
            <a:ext cx="882849" cy="1059507"/>
            <a:chOff x="0" y="0"/>
            <a:chExt cx="1177132" cy="1412677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177163" cy="1412621"/>
            </a:xfrm>
            <a:custGeom>
              <a:avLst/>
              <a:gdLst/>
              <a:ahLst/>
              <a:cxnLst/>
              <a:rect l="l" t="t" r="r" b="b"/>
              <a:pathLst>
                <a:path w="1177163" h="1412621">
                  <a:moveTo>
                    <a:pt x="0" y="0"/>
                  </a:moveTo>
                  <a:lnTo>
                    <a:pt x="1177163" y="0"/>
                  </a:lnTo>
                  <a:lnTo>
                    <a:pt x="1177163" y="1412621"/>
                  </a:lnTo>
                  <a:lnTo>
                    <a:pt x="0" y="1412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74" r="-271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77441" y="3568452"/>
            <a:ext cx="2207419" cy="30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Search Availability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77441" y="3921472"/>
            <a:ext cx="15992475" cy="33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Real-time query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18084" y="4480024"/>
            <a:ext cx="882849" cy="1059508"/>
            <a:chOff x="0" y="0"/>
            <a:chExt cx="1177132" cy="1412677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177163" cy="1412621"/>
            </a:xfrm>
            <a:custGeom>
              <a:avLst/>
              <a:gdLst/>
              <a:ahLst/>
              <a:cxnLst/>
              <a:rect l="l" t="t" r="r" b="b"/>
              <a:pathLst>
                <a:path w="1177163" h="1412621">
                  <a:moveTo>
                    <a:pt x="0" y="0"/>
                  </a:moveTo>
                  <a:lnTo>
                    <a:pt x="1177163" y="0"/>
                  </a:lnTo>
                  <a:lnTo>
                    <a:pt x="1177163" y="1412621"/>
                  </a:lnTo>
                  <a:lnTo>
                    <a:pt x="0" y="1412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4" r="-271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77441" y="4627959"/>
            <a:ext cx="2207419" cy="30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Book Vehicle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77441" y="4980980"/>
            <a:ext cx="15992475" cy="33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Reservation creation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18084" y="5539531"/>
            <a:ext cx="882849" cy="1059507"/>
            <a:chOff x="0" y="0"/>
            <a:chExt cx="1177132" cy="1412677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177163" cy="1412621"/>
            </a:xfrm>
            <a:custGeom>
              <a:avLst/>
              <a:gdLst/>
              <a:ahLst/>
              <a:cxnLst/>
              <a:rect l="l" t="t" r="r" b="b"/>
              <a:pathLst>
                <a:path w="1177163" h="1412621">
                  <a:moveTo>
                    <a:pt x="0" y="0"/>
                  </a:moveTo>
                  <a:lnTo>
                    <a:pt x="1177163" y="0"/>
                  </a:lnTo>
                  <a:lnTo>
                    <a:pt x="1177163" y="1412621"/>
                  </a:lnTo>
                  <a:lnTo>
                    <a:pt x="0" y="1412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4" r="-271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77441" y="5687466"/>
            <a:ext cx="2207419" cy="30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Rent Process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77441" y="6040488"/>
            <a:ext cx="15992475" cy="33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Contract initiation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18084" y="6599039"/>
            <a:ext cx="882849" cy="1059507"/>
            <a:chOff x="0" y="0"/>
            <a:chExt cx="1177132" cy="1412677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1177163" cy="1412621"/>
            </a:xfrm>
            <a:custGeom>
              <a:avLst/>
              <a:gdLst/>
              <a:ahLst/>
              <a:cxnLst/>
              <a:rect l="l" t="t" r="r" b="b"/>
              <a:pathLst>
                <a:path w="1177163" h="1412621">
                  <a:moveTo>
                    <a:pt x="0" y="0"/>
                  </a:moveTo>
                  <a:lnTo>
                    <a:pt x="1177163" y="0"/>
                  </a:lnTo>
                  <a:lnTo>
                    <a:pt x="1177163" y="1412621"/>
                  </a:lnTo>
                  <a:lnTo>
                    <a:pt x="0" y="1412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4" r="-271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677441" y="6746974"/>
            <a:ext cx="2207419" cy="30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Return Vehicle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77441" y="7099995"/>
            <a:ext cx="15992475" cy="33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Check-in workflow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18084" y="7658546"/>
            <a:ext cx="882849" cy="1059507"/>
            <a:chOff x="0" y="0"/>
            <a:chExt cx="1177132" cy="1412677"/>
          </a:xfrm>
        </p:grpSpPr>
        <p:sp>
          <p:nvSpPr>
            <p:cNvPr id="29" name="Freeform 29" descr="preencoded.png"/>
            <p:cNvSpPr/>
            <p:nvPr/>
          </p:nvSpPr>
          <p:spPr>
            <a:xfrm>
              <a:off x="0" y="0"/>
              <a:ext cx="1177163" cy="1412621"/>
            </a:xfrm>
            <a:custGeom>
              <a:avLst/>
              <a:gdLst/>
              <a:ahLst/>
              <a:cxnLst/>
              <a:rect l="l" t="t" r="r" b="b"/>
              <a:pathLst>
                <a:path w="1177163" h="1412621">
                  <a:moveTo>
                    <a:pt x="0" y="0"/>
                  </a:moveTo>
                  <a:lnTo>
                    <a:pt x="1177163" y="0"/>
                  </a:lnTo>
                  <a:lnTo>
                    <a:pt x="1177163" y="1412621"/>
                  </a:lnTo>
                  <a:lnTo>
                    <a:pt x="0" y="1412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4" r="-271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677441" y="7806481"/>
            <a:ext cx="2207419" cy="30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Generate Bill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77441" y="8159502"/>
            <a:ext cx="15992475" cy="33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Payment calculation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8084" y="9018240"/>
            <a:ext cx="8310562" cy="622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Stress Testing:</a:t>
            </a:r>
            <a:r>
              <a:rPr lang="en-US" sz="13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System validated with high-volume sample data entries to ensure scalability and performance under load.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68879" y="9018240"/>
            <a:ext cx="8310562" cy="622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Integration Testing:</a:t>
            </a:r>
            <a:r>
              <a:rPr lang="en-US" sz="13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Frontend-backend communication verified for optimal request/response latency and error handling.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562546"/>
            <a:ext cx="10513962" cy="834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Results &amp; Performance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167806"/>
            <a:ext cx="5198269" cy="81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100%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17785" y="4305151"/>
            <a:ext cx="3734695" cy="411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Workflow Automation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851499"/>
            <a:ext cx="5198269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Complete rental process digitized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44866" y="3167806"/>
            <a:ext cx="5198269" cy="81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60%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71904" y="4305151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Time Reduction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44866" y="4851499"/>
            <a:ext cx="5198269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Estimated decrease in processing time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97494" y="3167806"/>
            <a:ext cx="5198269" cy="81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95%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24533" y="4305151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Error Reduction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97494" y="4851499"/>
            <a:ext cx="5198269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Fewer mistakes vs. manual operations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2238" y="5797004"/>
            <a:ext cx="4252912" cy="56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Key Achievements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238" y="6942236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Real-time rental workflow handling with instant updates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238" y="7494985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Intuitive UI design for both administrators and customers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2238" y="8047732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Stable performance with efficient database queries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99401" y="6942236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Modular architecture enabling easy feature additions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99401" y="7494985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Scalable foundation ready for SaaS transformation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99401" y="8047732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Comprehensive data management capabilities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9144000" cy="10295930"/>
            <a:chOff x="0" y="0"/>
            <a:chExt cx="12192000" cy="13727907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2192000" cy="13727937"/>
            </a:xfrm>
            <a:custGeom>
              <a:avLst/>
              <a:gdLst/>
              <a:ahLst/>
              <a:cxnLst/>
              <a:rect l="l" t="t" r="r" b="b"/>
              <a:pathLst>
                <a:path w="12192000" h="13727937">
                  <a:moveTo>
                    <a:pt x="0" y="0"/>
                  </a:moveTo>
                  <a:lnTo>
                    <a:pt x="12192000" y="0"/>
                  </a:lnTo>
                  <a:lnTo>
                    <a:pt x="12192000" y="13727937"/>
                  </a:lnTo>
                  <a:lnTo>
                    <a:pt x="0" y="13727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" b="-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3718" y="2848867"/>
            <a:ext cx="8716566" cy="4598045"/>
            <a:chOff x="0" y="0"/>
            <a:chExt cx="11622088" cy="6130727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1622151" cy="6130671"/>
            </a:xfrm>
            <a:custGeom>
              <a:avLst/>
              <a:gdLst/>
              <a:ahLst/>
              <a:cxnLst/>
              <a:rect l="l" t="t" r="r" b="b"/>
              <a:pathLst>
                <a:path w="11622151" h="6130671">
                  <a:moveTo>
                    <a:pt x="0" y="0"/>
                  </a:moveTo>
                  <a:lnTo>
                    <a:pt x="11622151" y="0"/>
                  </a:lnTo>
                  <a:lnTo>
                    <a:pt x="11622151" y="6130671"/>
                  </a:lnTo>
                  <a:lnTo>
                    <a:pt x="0" y="613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741991" y="441275"/>
            <a:ext cx="5421214" cy="562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Project Outcomes &amp; Impact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737229" y="1255365"/>
            <a:ext cx="7957542" cy="2022872"/>
            <a:chOff x="0" y="0"/>
            <a:chExt cx="10610057" cy="2697163"/>
          </a:xfrm>
        </p:grpSpPr>
        <p:sp>
          <p:nvSpPr>
            <p:cNvPr id="12" name="Freeform 12"/>
            <p:cNvSpPr/>
            <p:nvPr/>
          </p:nvSpPr>
          <p:spPr>
            <a:xfrm>
              <a:off x="6350" y="6350"/>
              <a:ext cx="10597388" cy="2684526"/>
            </a:xfrm>
            <a:custGeom>
              <a:avLst/>
              <a:gdLst/>
              <a:ahLst/>
              <a:cxnLst/>
              <a:rect l="l" t="t" r="r" b="b"/>
              <a:pathLst>
                <a:path w="10597388" h="2684526">
                  <a:moveTo>
                    <a:pt x="0" y="95758"/>
                  </a:moveTo>
                  <a:cubicBezTo>
                    <a:pt x="0" y="42799"/>
                    <a:pt x="43053" y="0"/>
                    <a:pt x="96012" y="0"/>
                  </a:cubicBezTo>
                  <a:lnTo>
                    <a:pt x="10501376" y="0"/>
                  </a:lnTo>
                  <a:cubicBezTo>
                    <a:pt x="10554462" y="0"/>
                    <a:pt x="10597388" y="42799"/>
                    <a:pt x="10597388" y="95758"/>
                  </a:cubicBezTo>
                  <a:lnTo>
                    <a:pt x="10597388" y="2588768"/>
                  </a:lnTo>
                  <a:cubicBezTo>
                    <a:pt x="10597388" y="2641600"/>
                    <a:pt x="10554335" y="2684526"/>
                    <a:pt x="10501376" y="2684526"/>
                  </a:cubicBezTo>
                  <a:lnTo>
                    <a:pt x="96012" y="2684526"/>
                  </a:lnTo>
                  <a:cubicBezTo>
                    <a:pt x="42926" y="2684526"/>
                    <a:pt x="0" y="2641727"/>
                    <a:pt x="0" y="2588768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10610088" cy="2697226"/>
            </a:xfrm>
            <a:custGeom>
              <a:avLst/>
              <a:gdLst/>
              <a:ahLst/>
              <a:cxnLst/>
              <a:rect l="l" t="t" r="r" b="b"/>
              <a:pathLst>
                <a:path w="10610088" h="2697226">
                  <a:moveTo>
                    <a:pt x="0" y="102108"/>
                  </a:moveTo>
                  <a:cubicBezTo>
                    <a:pt x="0" y="45720"/>
                    <a:pt x="45847" y="0"/>
                    <a:pt x="102362" y="0"/>
                  </a:cubicBezTo>
                  <a:lnTo>
                    <a:pt x="10507726" y="0"/>
                  </a:lnTo>
                  <a:lnTo>
                    <a:pt x="10507726" y="6350"/>
                  </a:lnTo>
                  <a:lnTo>
                    <a:pt x="10507726" y="0"/>
                  </a:lnTo>
                  <a:cubicBezTo>
                    <a:pt x="10564241" y="0"/>
                    <a:pt x="10610088" y="45720"/>
                    <a:pt x="10610088" y="102108"/>
                  </a:cubicBezTo>
                  <a:lnTo>
                    <a:pt x="10603738" y="102108"/>
                  </a:lnTo>
                  <a:lnTo>
                    <a:pt x="10610088" y="102108"/>
                  </a:lnTo>
                  <a:lnTo>
                    <a:pt x="10610088" y="2595118"/>
                  </a:lnTo>
                  <a:lnTo>
                    <a:pt x="10603738" y="2595118"/>
                  </a:lnTo>
                  <a:lnTo>
                    <a:pt x="10610088" y="2595118"/>
                  </a:lnTo>
                  <a:cubicBezTo>
                    <a:pt x="10610088" y="2651506"/>
                    <a:pt x="10564241" y="2697226"/>
                    <a:pt x="10507726" y="2697226"/>
                  </a:cubicBezTo>
                  <a:lnTo>
                    <a:pt x="10507726" y="2690876"/>
                  </a:lnTo>
                  <a:lnTo>
                    <a:pt x="10507726" y="2697226"/>
                  </a:lnTo>
                  <a:lnTo>
                    <a:pt x="102362" y="2697226"/>
                  </a:lnTo>
                  <a:lnTo>
                    <a:pt x="102362" y="2690876"/>
                  </a:lnTo>
                  <a:lnTo>
                    <a:pt x="102362" y="2697226"/>
                  </a:lnTo>
                  <a:cubicBezTo>
                    <a:pt x="45847" y="2697226"/>
                    <a:pt x="0" y="2651506"/>
                    <a:pt x="0" y="2595118"/>
                  </a:cubicBezTo>
                  <a:lnTo>
                    <a:pt x="0" y="102108"/>
                  </a:lnTo>
                  <a:lnTo>
                    <a:pt x="6350" y="102108"/>
                  </a:lnTo>
                  <a:lnTo>
                    <a:pt x="0" y="102108"/>
                  </a:lnTo>
                  <a:moveTo>
                    <a:pt x="12700" y="102108"/>
                  </a:moveTo>
                  <a:lnTo>
                    <a:pt x="12700" y="2595118"/>
                  </a:lnTo>
                  <a:lnTo>
                    <a:pt x="6350" y="2595118"/>
                  </a:lnTo>
                  <a:lnTo>
                    <a:pt x="12700" y="2595118"/>
                  </a:lnTo>
                  <a:cubicBezTo>
                    <a:pt x="12700" y="2644394"/>
                    <a:pt x="52832" y="2684526"/>
                    <a:pt x="102362" y="2684526"/>
                  </a:cubicBezTo>
                  <a:lnTo>
                    <a:pt x="10507726" y="2684526"/>
                  </a:lnTo>
                  <a:cubicBezTo>
                    <a:pt x="10557256" y="2684526"/>
                    <a:pt x="10597388" y="2644521"/>
                    <a:pt x="10597388" y="2595118"/>
                  </a:cubicBezTo>
                  <a:lnTo>
                    <a:pt x="10597388" y="102108"/>
                  </a:lnTo>
                  <a:cubicBezTo>
                    <a:pt x="10597388" y="52832"/>
                    <a:pt x="10557256" y="12700"/>
                    <a:pt x="10507726" y="12700"/>
                  </a:cubicBezTo>
                  <a:lnTo>
                    <a:pt x="102362" y="12700"/>
                  </a:lnTo>
                  <a:lnTo>
                    <a:pt x="102362" y="6350"/>
                  </a:lnTo>
                  <a:lnTo>
                    <a:pt x="102362" y="12700"/>
                  </a:lnTo>
                  <a:cubicBezTo>
                    <a:pt x="52832" y="12700"/>
                    <a:pt x="12700" y="52705"/>
                    <a:pt x="12700" y="102108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22371" y="1440507"/>
            <a:ext cx="512564" cy="512564"/>
            <a:chOff x="0" y="0"/>
            <a:chExt cx="683418" cy="68341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3387" cy="683387"/>
            </a:xfrm>
            <a:custGeom>
              <a:avLst/>
              <a:gdLst/>
              <a:ahLst/>
              <a:cxnLst/>
              <a:rect l="l" t="t" r="r" b="b"/>
              <a:pathLst>
                <a:path w="683387" h="683387">
                  <a:moveTo>
                    <a:pt x="0" y="341757"/>
                  </a:moveTo>
                  <a:cubicBezTo>
                    <a:pt x="0" y="153035"/>
                    <a:pt x="153035" y="0"/>
                    <a:pt x="341757" y="0"/>
                  </a:cubicBezTo>
                  <a:cubicBezTo>
                    <a:pt x="530479" y="0"/>
                    <a:pt x="683387" y="153035"/>
                    <a:pt x="683387" y="341757"/>
                  </a:cubicBezTo>
                  <a:cubicBezTo>
                    <a:pt x="683387" y="530479"/>
                    <a:pt x="530479" y="683387"/>
                    <a:pt x="341757" y="683387"/>
                  </a:cubicBezTo>
                  <a:cubicBezTo>
                    <a:pt x="153035" y="683387"/>
                    <a:pt x="0" y="530479"/>
                    <a:pt x="0" y="341757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10063311" y="1581299"/>
            <a:ext cx="230684" cy="230684"/>
          </a:xfrm>
          <a:custGeom>
            <a:avLst/>
            <a:gdLst/>
            <a:ahLst/>
            <a:cxnLst/>
            <a:rect l="l" t="t" r="r" b="b"/>
            <a:pathLst>
              <a:path w="230684" h="230684">
                <a:moveTo>
                  <a:pt x="0" y="0"/>
                </a:moveTo>
                <a:lnTo>
                  <a:pt x="230684" y="0"/>
                </a:lnTo>
                <a:lnTo>
                  <a:pt x="230684" y="230683"/>
                </a:lnTo>
                <a:lnTo>
                  <a:pt x="0" y="230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9922371" y="2133427"/>
            <a:ext cx="3031629" cy="310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Fully Operational System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2371" y="2489448"/>
            <a:ext cx="7587257" cy="60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complete, working standalone rental management platform successfully built and demonstrated with all core features functioning seamlessly.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737229" y="3439566"/>
            <a:ext cx="7957542" cy="2022873"/>
            <a:chOff x="0" y="0"/>
            <a:chExt cx="10610057" cy="2697163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10597388" cy="2684526"/>
            </a:xfrm>
            <a:custGeom>
              <a:avLst/>
              <a:gdLst/>
              <a:ahLst/>
              <a:cxnLst/>
              <a:rect l="l" t="t" r="r" b="b"/>
              <a:pathLst>
                <a:path w="10597388" h="2684526">
                  <a:moveTo>
                    <a:pt x="0" y="95758"/>
                  </a:moveTo>
                  <a:cubicBezTo>
                    <a:pt x="0" y="42799"/>
                    <a:pt x="43053" y="0"/>
                    <a:pt x="96012" y="0"/>
                  </a:cubicBezTo>
                  <a:lnTo>
                    <a:pt x="10501376" y="0"/>
                  </a:lnTo>
                  <a:cubicBezTo>
                    <a:pt x="10554462" y="0"/>
                    <a:pt x="10597388" y="42799"/>
                    <a:pt x="10597388" y="95758"/>
                  </a:cubicBezTo>
                  <a:lnTo>
                    <a:pt x="10597388" y="2588768"/>
                  </a:lnTo>
                  <a:cubicBezTo>
                    <a:pt x="10597388" y="2641600"/>
                    <a:pt x="10554335" y="2684526"/>
                    <a:pt x="10501376" y="2684526"/>
                  </a:cubicBezTo>
                  <a:lnTo>
                    <a:pt x="96012" y="2684526"/>
                  </a:lnTo>
                  <a:cubicBezTo>
                    <a:pt x="42926" y="2684526"/>
                    <a:pt x="0" y="2641727"/>
                    <a:pt x="0" y="2588768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10610088" cy="2697226"/>
            </a:xfrm>
            <a:custGeom>
              <a:avLst/>
              <a:gdLst/>
              <a:ahLst/>
              <a:cxnLst/>
              <a:rect l="l" t="t" r="r" b="b"/>
              <a:pathLst>
                <a:path w="10610088" h="2697226">
                  <a:moveTo>
                    <a:pt x="0" y="102108"/>
                  </a:moveTo>
                  <a:cubicBezTo>
                    <a:pt x="0" y="45720"/>
                    <a:pt x="45847" y="0"/>
                    <a:pt x="102362" y="0"/>
                  </a:cubicBezTo>
                  <a:lnTo>
                    <a:pt x="10507726" y="0"/>
                  </a:lnTo>
                  <a:lnTo>
                    <a:pt x="10507726" y="6350"/>
                  </a:lnTo>
                  <a:lnTo>
                    <a:pt x="10507726" y="0"/>
                  </a:lnTo>
                  <a:cubicBezTo>
                    <a:pt x="10564241" y="0"/>
                    <a:pt x="10610088" y="45720"/>
                    <a:pt x="10610088" y="102108"/>
                  </a:cubicBezTo>
                  <a:lnTo>
                    <a:pt x="10603738" y="102108"/>
                  </a:lnTo>
                  <a:lnTo>
                    <a:pt x="10610088" y="102108"/>
                  </a:lnTo>
                  <a:lnTo>
                    <a:pt x="10610088" y="2595118"/>
                  </a:lnTo>
                  <a:lnTo>
                    <a:pt x="10603738" y="2595118"/>
                  </a:lnTo>
                  <a:lnTo>
                    <a:pt x="10610088" y="2595118"/>
                  </a:lnTo>
                  <a:cubicBezTo>
                    <a:pt x="10610088" y="2651506"/>
                    <a:pt x="10564241" y="2697226"/>
                    <a:pt x="10507726" y="2697226"/>
                  </a:cubicBezTo>
                  <a:lnTo>
                    <a:pt x="10507726" y="2690876"/>
                  </a:lnTo>
                  <a:lnTo>
                    <a:pt x="10507726" y="2697226"/>
                  </a:lnTo>
                  <a:lnTo>
                    <a:pt x="102362" y="2697226"/>
                  </a:lnTo>
                  <a:lnTo>
                    <a:pt x="102362" y="2690876"/>
                  </a:lnTo>
                  <a:lnTo>
                    <a:pt x="102362" y="2697226"/>
                  </a:lnTo>
                  <a:cubicBezTo>
                    <a:pt x="45847" y="2697226"/>
                    <a:pt x="0" y="2651506"/>
                    <a:pt x="0" y="2595118"/>
                  </a:cubicBezTo>
                  <a:lnTo>
                    <a:pt x="0" y="102108"/>
                  </a:lnTo>
                  <a:lnTo>
                    <a:pt x="6350" y="102108"/>
                  </a:lnTo>
                  <a:lnTo>
                    <a:pt x="0" y="102108"/>
                  </a:lnTo>
                  <a:moveTo>
                    <a:pt x="12700" y="102108"/>
                  </a:moveTo>
                  <a:lnTo>
                    <a:pt x="12700" y="2595118"/>
                  </a:lnTo>
                  <a:lnTo>
                    <a:pt x="6350" y="2595118"/>
                  </a:lnTo>
                  <a:lnTo>
                    <a:pt x="12700" y="2595118"/>
                  </a:lnTo>
                  <a:cubicBezTo>
                    <a:pt x="12700" y="2644394"/>
                    <a:pt x="52832" y="2684526"/>
                    <a:pt x="102362" y="2684526"/>
                  </a:cubicBezTo>
                  <a:lnTo>
                    <a:pt x="10507726" y="2684526"/>
                  </a:lnTo>
                  <a:cubicBezTo>
                    <a:pt x="10557256" y="2684526"/>
                    <a:pt x="10597388" y="2644521"/>
                    <a:pt x="10597388" y="2595118"/>
                  </a:cubicBezTo>
                  <a:lnTo>
                    <a:pt x="10597388" y="102108"/>
                  </a:lnTo>
                  <a:cubicBezTo>
                    <a:pt x="10597388" y="52832"/>
                    <a:pt x="10557256" y="12700"/>
                    <a:pt x="10507726" y="12700"/>
                  </a:cubicBezTo>
                  <a:lnTo>
                    <a:pt x="102362" y="12700"/>
                  </a:lnTo>
                  <a:lnTo>
                    <a:pt x="102362" y="6350"/>
                  </a:lnTo>
                  <a:lnTo>
                    <a:pt x="102362" y="12700"/>
                  </a:lnTo>
                  <a:cubicBezTo>
                    <a:pt x="52832" y="12700"/>
                    <a:pt x="12700" y="52705"/>
                    <a:pt x="12700" y="102108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922371" y="3624709"/>
            <a:ext cx="512564" cy="512564"/>
            <a:chOff x="0" y="0"/>
            <a:chExt cx="683418" cy="68341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83387" cy="683387"/>
            </a:xfrm>
            <a:custGeom>
              <a:avLst/>
              <a:gdLst/>
              <a:ahLst/>
              <a:cxnLst/>
              <a:rect l="l" t="t" r="r" b="b"/>
              <a:pathLst>
                <a:path w="683387" h="683387">
                  <a:moveTo>
                    <a:pt x="0" y="341757"/>
                  </a:moveTo>
                  <a:cubicBezTo>
                    <a:pt x="0" y="153035"/>
                    <a:pt x="153035" y="0"/>
                    <a:pt x="341757" y="0"/>
                  </a:cubicBezTo>
                  <a:cubicBezTo>
                    <a:pt x="530479" y="0"/>
                    <a:pt x="683387" y="153035"/>
                    <a:pt x="683387" y="341757"/>
                  </a:cubicBezTo>
                  <a:cubicBezTo>
                    <a:pt x="683387" y="530479"/>
                    <a:pt x="530479" y="683387"/>
                    <a:pt x="341757" y="683387"/>
                  </a:cubicBezTo>
                  <a:cubicBezTo>
                    <a:pt x="153035" y="683387"/>
                    <a:pt x="0" y="530479"/>
                    <a:pt x="0" y="341757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Freeform 24" descr="preencoded.png"/>
          <p:cNvSpPr/>
          <p:nvPr/>
        </p:nvSpPr>
        <p:spPr>
          <a:xfrm>
            <a:off x="10063311" y="3765500"/>
            <a:ext cx="230684" cy="230684"/>
          </a:xfrm>
          <a:custGeom>
            <a:avLst/>
            <a:gdLst/>
            <a:ahLst/>
            <a:cxnLst/>
            <a:rect l="l" t="t" r="r" b="b"/>
            <a:pathLst>
              <a:path w="230684" h="230684">
                <a:moveTo>
                  <a:pt x="0" y="0"/>
                </a:moveTo>
                <a:lnTo>
                  <a:pt x="230684" y="0"/>
                </a:lnTo>
                <a:lnTo>
                  <a:pt x="230684" y="230684"/>
                </a:lnTo>
                <a:lnTo>
                  <a:pt x="0" y="230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000" r="-60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9922371" y="4279552"/>
            <a:ext cx="2807345" cy="348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Operational Automation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22371" y="4673650"/>
            <a:ext cx="7587257" cy="603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application automates rental operations end-to-end, significantly reducing manual effort and eliminating repetitive administrative tasks.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737229" y="5623769"/>
            <a:ext cx="7957542" cy="2022872"/>
            <a:chOff x="0" y="0"/>
            <a:chExt cx="10610057" cy="2697163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10597388" cy="2684526"/>
            </a:xfrm>
            <a:custGeom>
              <a:avLst/>
              <a:gdLst/>
              <a:ahLst/>
              <a:cxnLst/>
              <a:rect l="l" t="t" r="r" b="b"/>
              <a:pathLst>
                <a:path w="10597388" h="2684526">
                  <a:moveTo>
                    <a:pt x="0" y="95758"/>
                  </a:moveTo>
                  <a:cubicBezTo>
                    <a:pt x="0" y="42799"/>
                    <a:pt x="43053" y="0"/>
                    <a:pt x="96012" y="0"/>
                  </a:cubicBezTo>
                  <a:lnTo>
                    <a:pt x="10501376" y="0"/>
                  </a:lnTo>
                  <a:cubicBezTo>
                    <a:pt x="10554462" y="0"/>
                    <a:pt x="10597388" y="42799"/>
                    <a:pt x="10597388" y="95758"/>
                  </a:cubicBezTo>
                  <a:lnTo>
                    <a:pt x="10597388" y="2588768"/>
                  </a:lnTo>
                  <a:cubicBezTo>
                    <a:pt x="10597388" y="2641600"/>
                    <a:pt x="10554335" y="2684526"/>
                    <a:pt x="10501376" y="2684526"/>
                  </a:cubicBezTo>
                  <a:lnTo>
                    <a:pt x="96012" y="2684526"/>
                  </a:lnTo>
                  <a:cubicBezTo>
                    <a:pt x="42926" y="2684526"/>
                    <a:pt x="0" y="2641727"/>
                    <a:pt x="0" y="2588768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10610088" cy="2697226"/>
            </a:xfrm>
            <a:custGeom>
              <a:avLst/>
              <a:gdLst/>
              <a:ahLst/>
              <a:cxnLst/>
              <a:rect l="l" t="t" r="r" b="b"/>
              <a:pathLst>
                <a:path w="10610088" h="2697226">
                  <a:moveTo>
                    <a:pt x="0" y="102108"/>
                  </a:moveTo>
                  <a:cubicBezTo>
                    <a:pt x="0" y="45720"/>
                    <a:pt x="45847" y="0"/>
                    <a:pt x="102362" y="0"/>
                  </a:cubicBezTo>
                  <a:lnTo>
                    <a:pt x="10507726" y="0"/>
                  </a:lnTo>
                  <a:lnTo>
                    <a:pt x="10507726" y="6350"/>
                  </a:lnTo>
                  <a:lnTo>
                    <a:pt x="10507726" y="0"/>
                  </a:lnTo>
                  <a:cubicBezTo>
                    <a:pt x="10564241" y="0"/>
                    <a:pt x="10610088" y="45720"/>
                    <a:pt x="10610088" y="102108"/>
                  </a:cubicBezTo>
                  <a:lnTo>
                    <a:pt x="10603738" y="102108"/>
                  </a:lnTo>
                  <a:lnTo>
                    <a:pt x="10610088" y="102108"/>
                  </a:lnTo>
                  <a:lnTo>
                    <a:pt x="10610088" y="2595118"/>
                  </a:lnTo>
                  <a:lnTo>
                    <a:pt x="10603738" y="2595118"/>
                  </a:lnTo>
                  <a:lnTo>
                    <a:pt x="10610088" y="2595118"/>
                  </a:lnTo>
                  <a:cubicBezTo>
                    <a:pt x="10610088" y="2651506"/>
                    <a:pt x="10564241" y="2697226"/>
                    <a:pt x="10507726" y="2697226"/>
                  </a:cubicBezTo>
                  <a:lnTo>
                    <a:pt x="10507726" y="2690876"/>
                  </a:lnTo>
                  <a:lnTo>
                    <a:pt x="10507726" y="2697226"/>
                  </a:lnTo>
                  <a:lnTo>
                    <a:pt x="102362" y="2697226"/>
                  </a:lnTo>
                  <a:lnTo>
                    <a:pt x="102362" y="2690876"/>
                  </a:lnTo>
                  <a:lnTo>
                    <a:pt x="102362" y="2697226"/>
                  </a:lnTo>
                  <a:cubicBezTo>
                    <a:pt x="45847" y="2697226"/>
                    <a:pt x="0" y="2651506"/>
                    <a:pt x="0" y="2595118"/>
                  </a:cubicBezTo>
                  <a:lnTo>
                    <a:pt x="0" y="102108"/>
                  </a:lnTo>
                  <a:lnTo>
                    <a:pt x="6350" y="102108"/>
                  </a:lnTo>
                  <a:lnTo>
                    <a:pt x="0" y="102108"/>
                  </a:lnTo>
                  <a:moveTo>
                    <a:pt x="12700" y="102108"/>
                  </a:moveTo>
                  <a:lnTo>
                    <a:pt x="12700" y="2595118"/>
                  </a:lnTo>
                  <a:lnTo>
                    <a:pt x="6350" y="2595118"/>
                  </a:lnTo>
                  <a:lnTo>
                    <a:pt x="12700" y="2595118"/>
                  </a:lnTo>
                  <a:cubicBezTo>
                    <a:pt x="12700" y="2644394"/>
                    <a:pt x="52832" y="2684526"/>
                    <a:pt x="102362" y="2684526"/>
                  </a:cubicBezTo>
                  <a:lnTo>
                    <a:pt x="10507726" y="2684526"/>
                  </a:lnTo>
                  <a:cubicBezTo>
                    <a:pt x="10557256" y="2684526"/>
                    <a:pt x="10597388" y="2644521"/>
                    <a:pt x="10597388" y="2595118"/>
                  </a:cubicBezTo>
                  <a:lnTo>
                    <a:pt x="10597388" y="102108"/>
                  </a:lnTo>
                  <a:cubicBezTo>
                    <a:pt x="10597388" y="52832"/>
                    <a:pt x="10557256" y="12700"/>
                    <a:pt x="10507726" y="12700"/>
                  </a:cubicBezTo>
                  <a:lnTo>
                    <a:pt x="102362" y="12700"/>
                  </a:lnTo>
                  <a:lnTo>
                    <a:pt x="102362" y="6350"/>
                  </a:lnTo>
                  <a:lnTo>
                    <a:pt x="102362" y="12700"/>
                  </a:lnTo>
                  <a:cubicBezTo>
                    <a:pt x="52832" y="12700"/>
                    <a:pt x="12700" y="52705"/>
                    <a:pt x="12700" y="102108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922371" y="5808910"/>
            <a:ext cx="512564" cy="512564"/>
            <a:chOff x="0" y="0"/>
            <a:chExt cx="683418" cy="68341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83387" cy="683387"/>
            </a:xfrm>
            <a:custGeom>
              <a:avLst/>
              <a:gdLst/>
              <a:ahLst/>
              <a:cxnLst/>
              <a:rect l="l" t="t" r="r" b="b"/>
              <a:pathLst>
                <a:path w="683387" h="683387">
                  <a:moveTo>
                    <a:pt x="0" y="341757"/>
                  </a:moveTo>
                  <a:cubicBezTo>
                    <a:pt x="0" y="153035"/>
                    <a:pt x="153035" y="0"/>
                    <a:pt x="341757" y="0"/>
                  </a:cubicBezTo>
                  <a:cubicBezTo>
                    <a:pt x="530479" y="0"/>
                    <a:pt x="683387" y="153035"/>
                    <a:pt x="683387" y="341757"/>
                  </a:cubicBezTo>
                  <a:cubicBezTo>
                    <a:pt x="683387" y="530479"/>
                    <a:pt x="530479" y="683387"/>
                    <a:pt x="341757" y="683387"/>
                  </a:cubicBezTo>
                  <a:cubicBezTo>
                    <a:pt x="153035" y="683387"/>
                    <a:pt x="0" y="530479"/>
                    <a:pt x="0" y="341757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Freeform 32" descr="preencoded.png"/>
          <p:cNvSpPr/>
          <p:nvPr/>
        </p:nvSpPr>
        <p:spPr>
          <a:xfrm>
            <a:off x="10063311" y="5949702"/>
            <a:ext cx="230684" cy="230684"/>
          </a:xfrm>
          <a:custGeom>
            <a:avLst/>
            <a:gdLst/>
            <a:ahLst/>
            <a:cxnLst/>
            <a:rect l="l" t="t" r="r" b="b"/>
            <a:pathLst>
              <a:path w="230684" h="230684">
                <a:moveTo>
                  <a:pt x="0" y="0"/>
                </a:moveTo>
                <a:lnTo>
                  <a:pt x="230684" y="0"/>
                </a:lnTo>
                <a:lnTo>
                  <a:pt x="230684" y="230684"/>
                </a:lnTo>
                <a:lnTo>
                  <a:pt x="0" y="2306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9922371" y="6463754"/>
            <a:ext cx="2563266" cy="348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Scalable Architecture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922371" y="6857851"/>
            <a:ext cx="7587257" cy="60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Modular design allows for continuous improvements, feature additions, and seamless scaling to accommodate business growth.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737229" y="7807970"/>
            <a:ext cx="7957542" cy="2022872"/>
            <a:chOff x="0" y="0"/>
            <a:chExt cx="10610057" cy="2697163"/>
          </a:xfrm>
        </p:grpSpPr>
        <p:sp>
          <p:nvSpPr>
            <p:cNvPr id="36" name="Freeform 36"/>
            <p:cNvSpPr/>
            <p:nvPr/>
          </p:nvSpPr>
          <p:spPr>
            <a:xfrm>
              <a:off x="6350" y="6350"/>
              <a:ext cx="10597388" cy="2684526"/>
            </a:xfrm>
            <a:custGeom>
              <a:avLst/>
              <a:gdLst/>
              <a:ahLst/>
              <a:cxnLst/>
              <a:rect l="l" t="t" r="r" b="b"/>
              <a:pathLst>
                <a:path w="10597388" h="2684526">
                  <a:moveTo>
                    <a:pt x="0" y="95758"/>
                  </a:moveTo>
                  <a:cubicBezTo>
                    <a:pt x="0" y="42799"/>
                    <a:pt x="43053" y="0"/>
                    <a:pt x="96012" y="0"/>
                  </a:cubicBezTo>
                  <a:lnTo>
                    <a:pt x="10501376" y="0"/>
                  </a:lnTo>
                  <a:cubicBezTo>
                    <a:pt x="10554462" y="0"/>
                    <a:pt x="10597388" y="42799"/>
                    <a:pt x="10597388" y="95758"/>
                  </a:cubicBezTo>
                  <a:lnTo>
                    <a:pt x="10597388" y="2588768"/>
                  </a:lnTo>
                  <a:cubicBezTo>
                    <a:pt x="10597388" y="2641600"/>
                    <a:pt x="10554335" y="2684526"/>
                    <a:pt x="10501376" y="2684526"/>
                  </a:cubicBezTo>
                  <a:lnTo>
                    <a:pt x="96012" y="2684526"/>
                  </a:lnTo>
                  <a:cubicBezTo>
                    <a:pt x="42926" y="2684526"/>
                    <a:pt x="0" y="2641727"/>
                    <a:pt x="0" y="2588768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10610088" cy="2697226"/>
            </a:xfrm>
            <a:custGeom>
              <a:avLst/>
              <a:gdLst/>
              <a:ahLst/>
              <a:cxnLst/>
              <a:rect l="l" t="t" r="r" b="b"/>
              <a:pathLst>
                <a:path w="10610088" h="2697226">
                  <a:moveTo>
                    <a:pt x="0" y="102108"/>
                  </a:moveTo>
                  <a:cubicBezTo>
                    <a:pt x="0" y="45720"/>
                    <a:pt x="45847" y="0"/>
                    <a:pt x="102362" y="0"/>
                  </a:cubicBezTo>
                  <a:lnTo>
                    <a:pt x="10507726" y="0"/>
                  </a:lnTo>
                  <a:lnTo>
                    <a:pt x="10507726" y="6350"/>
                  </a:lnTo>
                  <a:lnTo>
                    <a:pt x="10507726" y="0"/>
                  </a:lnTo>
                  <a:cubicBezTo>
                    <a:pt x="10564241" y="0"/>
                    <a:pt x="10610088" y="45720"/>
                    <a:pt x="10610088" y="102108"/>
                  </a:cubicBezTo>
                  <a:lnTo>
                    <a:pt x="10603738" y="102108"/>
                  </a:lnTo>
                  <a:lnTo>
                    <a:pt x="10610088" y="102108"/>
                  </a:lnTo>
                  <a:lnTo>
                    <a:pt x="10610088" y="2595118"/>
                  </a:lnTo>
                  <a:lnTo>
                    <a:pt x="10603738" y="2595118"/>
                  </a:lnTo>
                  <a:lnTo>
                    <a:pt x="10610088" y="2595118"/>
                  </a:lnTo>
                  <a:cubicBezTo>
                    <a:pt x="10610088" y="2651506"/>
                    <a:pt x="10564241" y="2697226"/>
                    <a:pt x="10507726" y="2697226"/>
                  </a:cubicBezTo>
                  <a:lnTo>
                    <a:pt x="10507726" y="2690876"/>
                  </a:lnTo>
                  <a:lnTo>
                    <a:pt x="10507726" y="2697226"/>
                  </a:lnTo>
                  <a:lnTo>
                    <a:pt x="102362" y="2697226"/>
                  </a:lnTo>
                  <a:lnTo>
                    <a:pt x="102362" y="2690876"/>
                  </a:lnTo>
                  <a:lnTo>
                    <a:pt x="102362" y="2697226"/>
                  </a:lnTo>
                  <a:cubicBezTo>
                    <a:pt x="45847" y="2697226"/>
                    <a:pt x="0" y="2651506"/>
                    <a:pt x="0" y="2595118"/>
                  </a:cubicBezTo>
                  <a:lnTo>
                    <a:pt x="0" y="102108"/>
                  </a:lnTo>
                  <a:lnTo>
                    <a:pt x="6350" y="102108"/>
                  </a:lnTo>
                  <a:lnTo>
                    <a:pt x="0" y="102108"/>
                  </a:lnTo>
                  <a:moveTo>
                    <a:pt x="12700" y="102108"/>
                  </a:moveTo>
                  <a:lnTo>
                    <a:pt x="12700" y="2595118"/>
                  </a:lnTo>
                  <a:lnTo>
                    <a:pt x="6350" y="2595118"/>
                  </a:lnTo>
                  <a:lnTo>
                    <a:pt x="12700" y="2595118"/>
                  </a:lnTo>
                  <a:cubicBezTo>
                    <a:pt x="12700" y="2644394"/>
                    <a:pt x="52832" y="2684526"/>
                    <a:pt x="102362" y="2684526"/>
                  </a:cubicBezTo>
                  <a:lnTo>
                    <a:pt x="10507726" y="2684526"/>
                  </a:lnTo>
                  <a:cubicBezTo>
                    <a:pt x="10557256" y="2684526"/>
                    <a:pt x="10597388" y="2644521"/>
                    <a:pt x="10597388" y="2595118"/>
                  </a:cubicBezTo>
                  <a:lnTo>
                    <a:pt x="10597388" y="102108"/>
                  </a:lnTo>
                  <a:cubicBezTo>
                    <a:pt x="10597388" y="52832"/>
                    <a:pt x="10557256" y="12700"/>
                    <a:pt x="10507726" y="12700"/>
                  </a:cubicBezTo>
                  <a:lnTo>
                    <a:pt x="102362" y="12700"/>
                  </a:lnTo>
                  <a:lnTo>
                    <a:pt x="102362" y="6350"/>
                  </a:lnTo>
                  <a:lnTo>
                    <a:pt x="102362" y="12700"/>
                  </a:lnTo>
                  <a:cubicBezTo>
                    <a:pt x="52832" y="12700"/>
                    <a:pt x="12700" y="52705"/>
                    <a:pt x="12700" y="102108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922371" y="7993112"/>
            <a:ext cx="512564" cy="512564"/>
            <a:chOff x="0" y="0"/>
            <a:chExt cx="683418" cy="68341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83387" cy="683387"/>
            </a:xfrm>
            <a:custGeom>
              <a:avLst/>
              <a:gdLst/>
              <a:ahLst/>
              <a:cxnLst/>
              <a:rect l="l" t="t" r="r" b="b"/>
              <a:pathLst>
                <a:path w="683387" h="683387">
                  <a:moveTo>
                    <a:pt x="0" y="341757"/>
                  </a:moveTo>
                  <a:cubicBezTo>
                    <a:pt x="0" y="153035"/>
                    <a:pt x="153035" y="0"/>
                    <a:pt x="341757" y="0"/>
                  </a:cubicBezTo>
                  <a:cubicBezTo>
                    <a:pt x="530479" y="0"/>
                    <a:pt x="683387" y="153035"/>
                    <a:pt x="683387" y="341757"/>
                  </a:cubicBezTo>
                  <a:cubicBezTo>
                    <a:pt x="683387" y="530479"/>
                    <a:pt x="530479" y="683387"/>
                    <a:pt x="341757" y="683387"/>
                  </a:cubicBezTo>
                  <a:cubicBezTo>
                    <a:pt x="153035" y="683387"/>
                    <a:pt x="0" y="530479"/>
                    <a:pt x="0" y="341757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Freeform 40" descr="preencoded.png"/>
          <p:cNvSpPr/>
          <p:nvPr/>
        </p:nvSpPr>
        <p:spPr>
          <a:xfrm>
            <a:off x="10063311" y="8133904"/>
            <a:ext cx="230684" cy="230684"/>
          </a:xfrm>
          <a:custGeom>
            <a:avLst/>
            <a:gdLst/>
            <a:ahLst/>
            <a:cxnLst/>
            <a:rect l="l" t="t" r="r" b="b"/>
            <a:pathLst>
              <a:path w="230684" h="230684">
                <a:moveTo>
                  <a:pt x="0" y="0"/>
                </a:moveTo>
                <a:lnTo>
                  <a:pt x="230684" y="0"/>
                </a:lnTo>
                <a:lnTo>
                  <a:pt x="230684" y="230684"/>
                </a:lnTo>
                <a:lnTo>
                  <a:pt x="0" y="2306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6000" r="-160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TextBox 41"/>
          <p:cNvSpPr txBox="1"/>
          <p:nvPr/>
        </p:nvSpPr>
        <p:spPr>
          <a:xfrm>
            <a:off x="9922371" y="8647956"/>
            <a:ext cx="2875509" cy="348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Learning Objectives Met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922371" y="9042052"/>
            <a:ext cx="7587257" cy="60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project successfully fulfills all expected learning outcomes for CSCI 6991 Data Engineering Capstone course requirements.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33140" y="617190"/>
            <a:ext cx="9427518" cy="781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Future Enhancements &amp; Roadmap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29712" y="1875235"/>
            <a:ext cx="28575" cy="7107734"/>
            <a:chOff x="0" y="0"/>
            <a:chExt cx="38100" cy="947697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100" cy="9476994"/>
            </a:xfrm>
            <a:custGeom>
              <a:avLst/>
              <a:gdLst/>
              <a:ahLst/>
              <a:cxnLst/>
              <a:rect l="l" t="t" r="r" b="b"/>
              <a:pathLst>
                <a:path w="38100" h="947699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457944"/>
                  </a:lnTo>
                  <a:cubicBezTo>
                    <a:pt x="38100" y="9468485"/>
                    <a:pt x="29591" y="9476994"/>
                    <a:pt x="19050" y="9476994"/>
                  </a:cubicBezTo>
                  <a:cubicBezTo>
                    <a:pt x="8509" y="9476994"/>
                    <a:pt x="0" y="9468485"/>
                    <a:pt x="0" y="9457944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190681" y="2128689"/>
            <a:ext cx="714078" cy="28575"/>
            <a:chOff x="0" y="0"/>
            <a:chExt cx="952103" cy="38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2119" cy="38100"/>
            </a:xfrm>
            <a:custGeom>
              <a:avLst/>
              <a:gdLst/>
              <a:ahLst/>
              <a:cxnLst/>
              <a:rect l="l" t="t" r="r" b="b"/>
              <a:pathLst>
                <a:path w="95211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33069" y="0"/>
                  </a:lnTo>
                  <a:cubicBezTo>
                    <a:pt x="943610" y="0"/>
                    <a:pt x="952119" y="8509"/>
                    <a:pt x="952119" y="19050"/>
                  </a:cubicBezTo>
                  <a:cubicBezTo>
                    <a:pt x="952119" y="29591"/>
                    <a:pt x="943610" y="38100"/>
                    <a:pt x="93306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71421" y="1870472"/>
            <a:ext cx="545157" cy="545158"/>
            <a:chOff x="0" y="0"/>
            <a:chExt cx="726877" cy="726877"/>
          </a:xfrm>
        </p:grpSpPr>
        <p:sp>
          <p:nvSpPr>
            <p:cNvPr id="12" name="Freeform 12"/>
            <p:cNvSpPr/>
            <p:nvPr/>
          </p:nvSpPr>
          <p:spPr>
            <a:xfrm>
              <a:off x="6350" y="6350"/>
              <a:ext cx="714248" cy="714248"/>
            </a:xfrm>
            <a:custGeom>
              <a:avLst/>
              <a:gdLst/>
              <a:ahLst/>
              <a:cxnLst/>
              <a:rect l="l" t="t" r="r" b="b"/>
              <a:pathLst>
                <a:path w="714248" h="714248">
                  <a:moveTo>
                    <a:pt x="0" y="133350"/>
                  </a:moveTo>
                  <a:cubicBezTo>
                    <a:pt x="0" y="59690"/>
                    <a:pt x="59690" y="0"/>
                    <a:pt x="133350" y="0"/>
                  </a:cubicBezTo>
                  <a:lnTo>
                    <a:pt x="580898" y="0"/>
                  </a:lnTo>
                  <a:cubicBezTo>
                    <a:pt x="654558" y="0"/>
                    <a:pt x="714248" y="59690"/>
                    <a:pt x="714248" y="133350"/>
                  </a:cubicBezTo>
                  <a:lnTo>
                    <a:pt x="714248" y="580898"/>
                  </a:lnTo>
                  <a:cubicBezTo>
                    <a:pt x="714248" y="654558"/>
                    <a:pt x="654558" y="714248"/>
                    <a:pt x="580898" y="714248"/>
                  </a:cubicBezTo>
                  <a:lnTo>
                    <a:pt x="133350" y="714248"/>
                  </a:lnTo>
                  <a:cubicBezTo>
                    <a:pt x="59690" y="714121"/>
                    <a:pt x="0" y="654431"/>
                    <a:pt x="0" y="580898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6948" cy="726948"/>
            </a:xfrm>
            <a:custGeom>
              <a:avLst/>
              <a:gdLst/>
              <a:ahLst/>
              <a:cxnLst/>
              <a:rect l="l" t="t" r="r" b="b"/>
              <a:pathLst>
                <a:path w="726948" h="726948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lnTo>
                    <a:pt x="587248" y="0"/>
                  </a:lnTo>
                  <a:lnTo>
                    <a:pt x="587248" y="6350"/>
                  </a:lnTo>
                  <a:lnTo>
                    <a:pt x="587248" y="0"/>
                  </a:lnTo>
                  <a:cubicBezTo>
                    <a:pt x="664337" y="0"/>
                    <a:pt x="726948" y="62484"/>
                    <a:pt x="726948" y="139700"/>
                  </a:cubicBezTo>
                  <a:lnTo>
                    <a:pt x="720598" y="139700"/>
                  </a:lnTo>
                  <a:lnTo>
                    <a:pt x="726948" y="139700"/>
                  </a:lnTo>
                  <a:lnTo>
                    <a:pt x="726948" y="587248"/>
                  </a:lnTo>
                  <a:lnTo>
                    <a:pt x="720598" y="587248"/>
                  </a:lnTo>
                  <a:lnTo>
                    <a:pt x="726948" y="587248"/>
                  </a:lnTo>
                  <a:cubicBezTo>
                    <a:pt x="726948" y="664337"/>
                    <a:pt x="664464" y="726948"/>
                    <a:pt x="587248" y="726948"/>
                  </a:cubicBezTo>
                  <a:lnTo>
                    <a:pt x="587248" y="720598"/>
                  </a:lnTo>
                  <a:lnTo>
                    <a:pt x="587248" y="726948"/>
                  </a:lnTo>
                  <a:lnTo>
                    <a:pt x="139700" y="726948"/>
                  </a:lnTo>
                  <a:lnTo>
                    <a:pt x="139700" y="720598"/>
                  </a:lnTo>
                  <a:lnTo>
                    <a:pt x="139700" y="726948"/>
                  </a:lnTo>
                  <a:cubicBezTo>
                    <a:pt x="62611" y="726948"/>
                    <a:pt x="0" y="664464"/>
                    <a:pt x="0" y="587248"/>
                  </a:cubicBezTo>
                  <a:lnTo>
                    <a:pt x="0" y="139700"/>
                  </a:lnTo>
                  <a:lnTo>
                    <a:pt x="6350" y="139700"/>
                  </a:lnTo>
                  <a:lnTo>
                    <a:pt x="0" y="139700"/>
                  </a:lnTo>
                  <a:moveTo>
                    <a:pt x="12700" y="139700"/>
                  </a:moveTo>
                  <a:lnTo>
                    <a:pt x="12700" y="587248"/>
                  </a:lnTo>
                  <a:lnTo>
                    <a:pt x="6350" y="587248"/>
                  </a:lnTo>
                  <a:lnTo>
                    <a:pt x="12700" y="587248"/>
                  </a:lnTo>
                  <a:cubicBezTo>
                    <a:pt x="12700" y="657352"/>
                    <a:pt x="69596" y="714248"/>
                    <a:pt x="139700" y="714248"/>
                  </a:cubicBezTo>
                  <a:lnTo>
                    <a:pt x="587248" y="714248"/>
                  </a:lnTo>
                  <a:cubicBezTo>
                    <a:pt x="657352" y="714248"/>
                    <a:pt x="714248" y="657352"/>
                    <a:pt x="714248" y="587248"/>
                  </a:cubicBezTo>
                  <a:lnTo>
                    <a:pt x="714248" y="139700"/>
                  </a:lnTo>
                  <a:cubicBezTo>
                    <a:pt x="714248" y="69596"/>
                    <a:pt x="657352" y="12700"/>
                    <a:pt x="587248" y="12700"/>
                  </a:cubicBezTo>
                  <a:lnTo>
                    <a:pt x="139700" y="12700"/>
                  </a:lnTo>
                  <a:lnTo>
                    <a:pt x="139700" y="6350"/>
                  </a:lnTo>
                  <a:lnTo>
                    <a:pt x="139700" y="12700"/>
                  </a:lnTo>
                  <a:cubicBezTo>
                    <a:pt x="69596" y="12700"/>
                    <a:pt x="12700" y="69596"/>
                    <a:pt x="12700" y="13970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965406" y="1957909"/>
            <a:ext cx="357039" cy="40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78152" y="1937891"/>
            <a:ext cx="2975670" cy="39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75"/>
              </a:lnSpc>
            </a:pPr>
            <a:r>
              <a:rPr lang="en-US" sz="2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Analytics Dashboard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3140" y="2385715"/>
            <a:ext cx="7120681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7"/>
              </a:lnSpc>
            </a:pPr>
            <a:r>
              <a:rPr lang="en-US" sz="18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Rental statistics, revenue trends, and business intelligence reporting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83241" y="3556993"/>
            <a:ext cx="714077" cy="28575"/>
            <a:chOff x="0" y="0"/>
            <a:chExt cx="952103" cy="38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2119" cy="38100"/>
            </a:xfrm>
            <a:custGeom>
              <a:avLst/>
              <a:gdLst/>
              <a:ahLst/>
              <a:cxnLst/>
              <a:rect l="l" t="t" r="r" b="b"/>
              <a:pathLst>
                <a:path w="95211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33069" y="0"/>
                  </a:lnTo>
                  <a:cubicBezTo>
                    <a:pt x="943610" y="0"/>
                    <a:pt x="952119" y="8509"/>
                    <a:pt x="952119" y="19050"/>
                  </a:cubicBezTo>
                  <a:cubicBezTo>
                    <a:pt x="952119" y="29591"/>
                    <a:pt x="943610" y="38100"/>
                    <a:pt x="93306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871421" y="3298775"/>
            <a:ext cx="545157" cy="545158"/>
            <a:chOff x="0" y="0"/>
            <a:chExt cx="726877" cy="726877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714248" cy="714248"/>
            </a:xfrm>
            <a:custGeom>
              <a:avLst/>
              <a:gdLst/>
              <a:ahLst/>
              <a:cxnLst/>
              <a:rect l="l" t="t" r="r" b="b"/>
              <a:pathLst>
                <a:path w="714248" h="714248">
                  <a:moveTo>
                    <a:pt x="0" y="133350"/>
                  </a:moveTo>
                  <a:cubicBezTo>
                    <a:pt x="0" y="59690"/>
                    <a:pt x="59690" y="0"/>
                    <a:pt x="133350" y="0"/>
                  </a:cubicBezTo>
                  <a:lnTo>
                    <a:pt x="580898" y="0"/>
                  </a:lnTo>
                  <a:cubicBezTo>
                    <a:pt x="654558" y="0"/>
                    <a:pt x="714248" y="59690"/>
                    <a:pt x="714248" y="133350"/>
                  </a:cubicBezTo>
                  <a:lnTo>
                    <a:pt x="714248" y="580898"/>
                  </a:lnTo>
                  <a:cubicBezTo>
                    <a:pt x="714248" y="654558"/>
                    <a:pt x="654558" y="714248"/>
                    <a:pt x="580898" y="714248"/>
                  </a:cubicBezTo>
                  <a:lnTo>
                    <a:pt x="133350" y="714248"/>
                  </a:lnTo>
                  <a:cubicBezTo>
                    <a:pt x="59690" y="714121"/>
                    <a:pt x="0" y="654431"/>
                    <a:pt x="0" y="580898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726948" cy="726948"/>
            </a:xfrm>
            <a:custGeom>
              <a:avLst/>
              <a:gdLst/>
              <a:ahLst/>
              <a:cxnLst/>
              <a:rect l="l" t="t" r="r" b="b"/>
              <a:pathLst>
                <a:path w="726948" h="726948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lnTo>
                    <a:pt x="587248" y="0"/>
                  </a:lnTo>
                  <a:lnTo>
                    <a:pt x="587248" y="6350"/>
                  </a:lnTo>
                  <a:lnTo>
                    <a:pt x="587248" y="0"/>
                  </a:lnTo>
                  <a:cubicBezTo>
                    <a:pt x="664337" y="0"/>
                    <a:pt x="726948" y="62484"/>
                    <a:pt x="726948" y="139700"/>
                  </a:cubicBezTo>
                  <a:lnTo>
                    <a:pt x="720598" y="139700"/>
                  </a:lnTo>
                  <a:lnTo>
                    <a:pt x="726948" y="139700"/>
                  </a:lnTo>
                  <a:lnTo>
                    <a:pt x="726948" y="587248"/>
                  </a:lnTo>
                  <a:lnTo>
                    <a:pt x="720598" y="587248"/>
                  </a:lnTo>
                  <a:lnTo>
                    <a:pt x="726948" y="587248"/>
                  </a:lnTo>
                  <a:cubicBezTo>
                    <a:pt x="726948" y="664337"/>
                    <a:pt x="664464" y="726948"/>
                    <a:pt x="587248" y="726948"/>
                  </a:cubicBezTo>
                  <a:lnTo>
                    <a:pt x="587248" y="720598"/>
                  </a:lnTo>
                  <a:lnTo>
                    <a:pt x="587248" y="726948"/>
                  </a:lnTo>
                  <a:lnTo>
                    <a:pt x="139700" y="726948"/>
                  </a:lnTo>
                  <a:lnTo>
                    <a:pt x="139700" y="720598"/>
                  </a:lnTo>
                  <a:lnTo>
                    <a:pt x="139700" y="726948"/>
                  </a:lnTo>
                  <a:cubicBezTo>
                    <a:pt x="62611" y="726948"/>
                    <a:pt x="0" y="664464"/>
                    <a:pt x="0" y="587248"/>
                  </a:cubicBezTo>
                  <a:lnTo>
                    <a:pt x="0" y="139700"/>
                  </a:lnTo>
                  <a:lnTo>
                    <a:pt x="6350" y="139700"/>
                  </a:lnTo>
                  <a:lnTo>
                    <a:pt x="0" y="139700"/>
                  </a:lnTo>
                  <a:moveTo>
                    <a:pt x="12700" y="139700"/>
                  </a:moveTo>
                  <a:lnTo>
                    <a:pt x="12700" y="587248"/>
                  </a:lnTo>
                  <a:lnTo>
                    <a:pt x="6350" y="587248"/>
                  </a:lnTo>
                  <a:lnTo>
                    <a:pt x="12700" y="587248"/>
                  </a:lnTo>
                  <a:cubicBezTo>
                    <a:pt x="12700" y="657352"/>
                    <a:pt x="69596" y="714248"/>
                    <a:pt x="139700" y="714248"/>
                  </a:cubicBezTo>
                  <a:lnTo>
                    <a:pt x="587248" y="714248"/>
                  </a:lnTo>
                  <a:cubicBezTo>
                    <a:pt x="657352" y="714248"/>
                    <a:pt x="714248" y="657352"/>
                    <a:pt x="714248" y="587248"/>
                  </a:cubicBezTo>
                  <a:lnTo>
                    <a:pt x="714248" y="139700"/>
                  </a:lnTo>
                  <a:cubicBezTo>
                    <a:pt x="714248" y="69596"/>
                    <a:pt x="657352" y="12700"/>
                    <a:pt x="587248" y="12700"/>
                  </a:cubicBezTo>
                  <a:lnTo>
                    <a:pt x="139700" y="12700"/>
                  </a:lnTo>
                  <a:lnTo>
                    <a:pt x="139700" y="6350"/>
                  </a:lnTo>
                  <a:lnTo>
                    <a:pt x="139700" y="12700"/>
                  </a:lnTo>
                  <a:cubicBezTo>
                    <a:pt x="69596" y="12700"/>
                    <a:pt x="12700" y="69596"/>
                    <a:pt x="12700" y="13970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965406" y="3386212"/>
            <a:ext cx="357039" cy="40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34179" y="3366195"/>
            <a:ext cx="3453556" cy="39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Communication Features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34179" y="3814019"/>
            <a:ext cx="7120681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Email notifications, automated invoice generation, and customer alerts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190681" y="4788099"/>
            <a:ext cx="714078" cy="28575"/>
            <a:chOff x="0" y="0"/>
            <a:chExt cx="952103" cy="381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52119" cy="38100"/>
            </a:xfrm>
            <a:custGeom>
              <a:avLst/>
              <a:gdLst/>
              <a:ahLst/>
              <a:cxnLst/>
              <a:rect l="l" t="t" r="r" b="b"/>
              <a:pathLst>
                <a:path w="95211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33069" y="0"/>
                  </a:lnTo>
                  <a:cubicBezTo>
                    <a:pt x="943610" y="0"/>
                    <a:pt x="952119" y="8509"/>
                    <a:pt x="952119" y="19050"/>
                  </a:cubicBezTo>
                  <a:cubicBezTo>
                    <a:pt x="952119" y="29591"/>
                    <a:pt x="943610" y="38100"/>
                    <a:pt x="93306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871421" y="4529881"/>
            <a:ext cx="545157" cy="545157"/>
            <a:chOff x="0" y="0"/>
            <a:chExt cx="726877" cy="726877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714248" cy="714248"/>
            </a:xfrm>
            <a:custGeom>
              <a:avLst/>
              <a:gdLst/>
              <a:ahLst/>
              <a:cxnLst/>
              <a:rect l="l" t="t" r="r" b="b"/>
              <a:pathLst>
                <a:path w="714248" h="714248">
                  <a:moveTo>
                    <a:pt x="0" y="133350"/>
                  </a:moveTo>
                  <a:cubicBezTo>
                    <a:pt x="0" y="59690"/>
                    <a:pt x="59690" y="0"/>
                    <a:pt x="133350" y="0"/>
                  </a:cubicBezTo>
                  <a:lnTo>
                    <a:pt x="580898" y="0"/>
                  </a:lnTo>
                  <a:cubicBezTo>
                    <a:pt x="654558" y="0"/>
                    <a:pt x="714248" y="59690"/>
                    <a:pt x="714248" y="133350"/>
                  </a:cubicBezTo>
                  <a:lnTo>
                    <a:pt x="714248" y="580898"/>
                  </a:lnTo>
                  <a:cubicBezTo>
                    <a:pt x="714248" y="654558"/>
                    <a:pt x="654558" y="714248"/>
                    <a:pt x="580898" y="714248"/>
                  </a:cubicBezTo>
                  <a:lnTo>
                    <a:pt x="133350" y="714248"/>
                  </a:lnTo>
                  <a:cubicBezTo>
                    <a:pt x="59690" y="714121"/>
                    <a:pt x="0" y="654431"/>
                    <a:pt x="0" y="580898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726948" cy="726948"/>
            </a:xfrm>
            <a:custGeom>
              <a:avLst/>
              <a:gdLst/>
              <a:ahLst/>
              <a:cxnLst/>
              <a:rect l="l" t="t" r="r" b="b"/>
              <a:pathLst>
                <a:path w="726948" h="726948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lnTo>
                    <a:pt x="587248" y="0"/>
                  </a:lnTo>
                  <a:lnTo>
                    <a:pt x="587248" y="6350"/>
                  </a:lnTo>
                  <a:lnTo>
                    <a:pt x="587248" y="0"/>
                  </a:lnTo>
                  <a:cubicBezTo>
                    <a:pt x="664337" y="0"/>
                    <a:pt x="726948" y="62484"/>
                    <a:pt x="726948" y="139700"/>
                  </a:cubicBezTo>
                  <a:lnTo>
                    <a:pt x="720598" y="139700"/>
                  </a:lnTo>
                  <a:lnTo>
                    <a:pt x="726948" y="139700"/>
                  </a:lnTo>
                  <a:lnTo>
                    <a:pt x="726948" y="587248"/>
                  </a:lnTo>
                  <a:lnTo>
                    <a:pt x="720598" y="587248"/>
                  </a:lnTo>
                  <a:lnTo>
                    <a:pt x="726948" y="587248"/>
                  </a:lnTo>
                  <a:cubicBezTo>
                    <a:pt x="726948" y="664337"/>
                    <a:pt x="664464" y="726948"/>
                    <a:pt x="587248" y="726948"/>
                  </a:cubicBezTo>
                  <a:lnTo>
                    <a:pt x="587248" y="720598"/>
                  </a:lnTo>
                  <a:lnTo>
                    <a:pt x="587248" y="726948"/>
                  </a:lnTo>
                  <a:lnTo>
                    <a:pt x="139700" y="726948"/>
                  </a:lnTo>
                  <a:lnTo>
                    <a:pt x="139700" y="720598"/>
                  </a:lnTo>
                  <a:lnTo>
                    <a:pt x="139700" y="726948"/>
                  </a:lnTo>
                  <a:cubicBezTo>
                    <a:pt x="62611" y="726948"/>
                    <a:pt x="0" y="664464"/>
                    <a:pt x="0" y="587248"/>
                  </a:cubicBezTo>
                  <a:lnTo>
                    <a:pt x="0" y="139700"/>
                  </a:lnTo>
                  <a:lnTo>
                    <a:pt x="6350" y="139700"/>
                  </a:lnTo>
                  <a:lnTo>
                    <a:pt x="0" y="139700"/>
                  </a:lnTo>
                  <a:moveTo>
                    <a:pt x="12700" y="139700"/>
                  </a:moveTo>
                  <a:lnTo>
                    <a:pt x="12700" y="587248"/>
                  </a:lnTo>
                  <a:lnTo>
                    <a:pt x="6350" y="587248"/>
                  </a:lnTo>
                  <a:lnTo>
                    <a:pt x="12700" y="587248"/>
                  </a:lnTo>
                  <a:cubicBezTo>
                    <a:pt x="12700" y="657352"/>
                    <a:pt x="69596" y="714248"/>
                    <a:pt x="139700" y="714248"/>
                  </a:cubicBezTo>
                  <a:lnTo>
                    <a:pt x="587248" y="714248"/>
                  </a:lnTo>
                  <a:cubicBezTo>
                    <a:pt x="657352" y="714248"/>
                    <a:pt x="714248" y="657352"/>
                    <a:pt x="714248" y="587248"/>
                  </a:cubicBezTo>
                  <a:lnTo>
                    <a:pt x="714248" y="139700"/>
                  </a:lnTo>
                  <a:cubicBezTo>
                    <a:pt x="714248" y="69596"/>
                    <a:pt x="657352" y="12700"/>
                    <a:pt x="587248" y="12700"/>
                  </a:cubicBezTo>
                  <a:lnTo>
                    <a:pt x="139700" y="12700"/>
                  </a:lnTo>
                  <a:lnTo>
                    <a:pt x="139700" y="6350"/>
                  </a:lnTo>
                  <a:lnTo>
                    <a:pt x="139700" y="12700"/>
                  </a:lnTo>
                  <a:cubicBezTo>
                    <a:pt x="69596" y="12700"/>
                    <a:pt x="12700" y="69596"/>
                    <a:pt x="12700" y="13970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8965406" y="4617319"/>
            <a:ext cx="357039" cy="40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78152" y="4597301"/>
            <a:ext cx="2975670" cy="39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75"/>
              </a:lnSpc>
            </a:pPr>
            <a:r>
              <a:rPr lang="en-US" sz="2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Cloud Deployment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3140" y="5045125"/>
            <a:ext cx="7120681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7"/>
              </a:lnSpc>
            </a:pPr>
            <a:r>
              <a:rPr lang="en-US" sz="18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Containerization with Docker and cloud hosting infrastructure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383241" y="6019205"/>
            <a:ext cx="714077" cy="28575"/>
            <a:chOff x="0" y="0"/>
            <a:chExt cx="952103" cy="381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52119" cy="38100"/>
            </a:xfrm>
            <a:custGeom>
              <a:avLst/>
              <a:gdLst/>
              <a:ahLst/>
              <a:cxnLst/>
              <a:rect l="l" t="t" r="r" b="b"/>
              <a:pathLst>
                <a:path w="95211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33069" y="0"/>
                  </a:lnTo>
                  <a:cubicBezTo>
                    <a:pt x="943610" y="0"/>
                    <a:pt x="952119" y="8509"/>
                    <a:pt x="952119" y="19050"/>
                  </a:cubicBezTo>
                  <a:cubicBezTo>
                    <a:pt x="952119" y="29591"/>
                    <a:pt x="943610" y="38100"/>
                    <a:pt x="93306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871421" y="5760987"/>
            <a:ext cx="545157" cy="545157"/>
            <a:chOff x="0" y="0"/>
            <a:chExt cx="726877" cy="726877"/>
          </a:xfrm>
        </p:grpSpPr>
        <p:sp>
          <p:nvSpPr>
            <p:cNvPr id="36" name="Freeform 36"/>
            <p:cNvSpPr/>
            <p:nvPr/>
          </p:nvSpPr>
          <p:spPr>
            <a:xfrm>
              <a:off x="6350" y="6350"/>
              <a:ext cx="714248" cy="714248"/>
            </a:xfrm>
            <a:custGeom>
              <a:avLst/>
              <a:gdLst/>
              <a:ahLst/>
              <a:cxnLst/>
              <a:rect l="l" t="t" r="r" b="b"/>
              <a:pathLst>
                <a:path w="714248" h="714248">
                  <a:moveTo>
                    <a:pt x="0" y="133350"/>
                  </a:moveTo>
                  <a:cubicBezTo>
                    <a:pt x="0" y="59690"/>
                    <a:pt x="59690" y="0"/>
                    <a:pt x="133350" y="0"/>
                  </a:cubicBezTo>
                  <a:lnTo>
                    <a:pt x="580898" y="0"/>
                  </a:lnTo>
                  <a:cubicBezTo>
                    <a:pt x="654558" y="0"/>
                    <a:pt x="714248" y="59690"/>
                    <a:pt x="714248" y="133350"/>
                  </a:cubicBezTo>
                  <a:lnTo>
                    <a:pt x="714248" y="580898"/>
                  </a:lnTo>
                  <a:cubicBezTo>
                    <a:pt x="714248" y="654558"/>
                    <a:pt x="654558" y="714248"/>
                    <a:pt x="580898" y="714248"/>
                  </a:cubicBezTo>
                  <a:lnTo>
                    <a:pt x="133350" y="714248"/>
                  </a:lnTo>
                  <a:cubicBezTo>
                    <a:pt x="59690" y="714121"/>
                    <a:pt x="0" y="654431"/>
                    <a:pt x="0" y="580898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726948" cy="726948"/>
            </a:xfrm>
            <a:custGeom>
              <a:avLst/>
              <a:gdLst/>
              <a:ahLst/>
              <a:cxnLst/>
              <a:rect l="l" t="t" r="r" b="b"/>
              <a:pathLst>
                <a:path w="726948" h="726948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lnTo>
                    <a:pt x="587248" y="0"/>
                  </a:lnTo>
                  <a:lnTo>
                    <a:pt x="587248" y="6350"/>
                  </a:lnTo>
                  <a:lnTo>
                    <a:pt x="587248" y="0"/>
                  </a:lnTo>
                  <a:cubicBezTo>
                    <a:pt x="664337" y="0"/>
                    <a:pt x="726948" y="62484"/>
                    <a:pt x="726948" y="139700"/>
                  </a:cubicBezTo>
                  <a:lnTo>
                    <a:pt x="720598" y="139700"/>
                  </a:lnTo>
                  <a:lnTo>
                    <a:pt x="726948" y="139700"/>
                  </a:lnTo>
                  <a:lnTo>
                    <a:pt x="726948" y="587248"/>
                  </a:lnTo>
                  <a:lnTo>
                    <a:pt x="720598" y="587248"/>
                  </a:lnTo>
                  <a:lnTo>
                    <a:pt x="726948" y="587248"/>
                  </a:lnTo>
                  <a:cubicBezTo>
                    <a:pt x="726948" y="664337"/>
                    <a:pt x="664464" y="726948"/>
                    <a:pt x="587248" y="726948"/>
                  </a:cubicBezTo>
                  <a:lnTo>
                    <a:pt x="587248" y="720598"/>
                  </a:lnTo>
                  <a:lnTo>
                    <a:pt x="587248" y="726948"/>
                  </a:lnTo>
                  <a:lnTo>
                    <a:pt x="139700" y="726948"/>
                  </a:lnTo>
                  <a:lnTo>
                    <a:pt x="139700" y="720598"/>
                  </a:lnTo>
                  <a:lnTo>
                    <a:pt x="139700" y="726948"/>
                  </a:lnTo>
                  <a:cubicBezTo>
                    <a:pt x="62611" y="726948"/>
                    <a:pt x="0" y="664464"/>
                    <a:pt x="0" y="587248"/>
                  </a:cubicBezTo>
                  <a:lnTo>
                    <a:pt x="0" y="139700"/>
                  </a:lnTo>
                  <a:lnTo>
                    <a:pt x="6350" y="139700"/>
                  </a:lnTo>
                  <a:lnTo>
                    <a:pt x="0" y="139700"/>
                  </a:lnTo>
                  <a:moveTo>
                    <a:pt x="12700" y="139700"/>
                  </a:moveTo>
                  <a:lnTo>
                    <a:pt x="12700" y="587248"/>
                  </a:lnTo>
                  <a:lnTo>
                    <a:pt x="6350" y="587248"/>
                  </a:lnTo>
                  <a:lnTo>
                    <a:pt x="12700" y="587248"/>
                  </a:lnTo>
                  <a:cubicBezTo>
                    <a:pt x="12700" y="657352"/>
                    <a:pt x="69596" y="714248"/>
                    <a:pt x="139700" y="714248"/>
                  </a:cubicBezTo>
                  <a:lnTo>
                    <a:pt x="587248" y="714248"/>
                  </a:lnTo>
                  <a:cubicBezTo>
                    <a:pt x="657352" y="714248"/>
                    <a:pt x="714248" y="657352"/>
                    <a:pt x="714248" y="587248"/>
                  </a:cubicBezTo>
                  <a:lnTo>
                    <a:pt x="714248" y="139700"/>
                  </a:lnTo>
                  <a:cubicBezTo>
                    <a:pt x="714248" y="69596"/>
                    <a:pt x="657352" y="12700"/>
                    <a:pt x="587248" y="12700"/>
                  </a:cubicBezTo>
                  <a:lnTo>
                    <a:pt x="139700" y="12700"/>
                  </a:lnTo>
                  <a:lnTo>
                    <a:pt x="139700" y="6350"/>
                  </a:lnTo>
                  <a:lnTo>
                    <a:pt x="139700" y="12700"/>
                  </a:lnTo>
                  <a:cubicBezTo>
                    <a:pt x="69596" y="12700"/>
                    <a:pt x="12700" y="69596"/>
                    <a:pt x="12700" y="13970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8965406" y="5848425"/>
            <a:ext cx="357039" cy="40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334179" y="5828408"/>
            <a:ext cx="2975670" cy="390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Enhanced Security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334179" y="6276231"/>
            <a:ext cx="7120681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Advanced role-based access control and permission management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8190681" y="7250311"/>
            <a:ext cx="714078" cy="28575"/>
            <a:chOff x="0" y="0"/>
            <a:chExt cx="952103" cy="381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52119" cy="38100"/>
            </a:xfrm>
            <a:custGeom>
              <a:avLst/>
              <a:gdLst/>
              <a:ahLst/>
              <a:cxnLst/>
              <a:rect l="l" t="t" r="r" b="b"/>
              <a:pathLst>
                <a:path w="95211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33069" y="0"/>
                  </a:lnTo>
                  <a:cubicBezTo>
                    <a:pt x="943610" y="0"/>
                    <a:pt x="952119" y="8509"/>
                    <a:pt x="952119" y="19050"/>
                  </a:cubicBezTo>
                  <a:cubicBezTo>
                    <a:pt x="952119" y="29591"/>
                    <a:pt x="943610" y="38100"/>
                    <a:pt x="93306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871421" y="6992094"/>
            <a:ext cx="545157" cy="545157"/>
            <a:chOff x="0" y="0"/>
            <a:chExt cx="726877" cy="726877"/>
          </a:xfrm>
        </p:grpSpPr>
        <p:sp>
          <p:nvSpPr>
            <p:cNvPr id="44" name="Freeform 44"/>
            <p:cNvSpPr/>
            <p:nvPr/>
          </p:nvSpPr>
          <p:spPr>
            <a:xfrm>
              <a:off x="6350" y="6350"/>
              <a:ext cx="714248" cy="714248"/>
            </a:xfrm>
            <a:custGeom>
              <a:avLst/>
              <a:gdLst/>
              <a:ahLst/>
              <a:cxnLst/>
              <a:rect l="l" t="t" r="r" b="b"/>
              <a:pathLst>
                <a:path w="714248" h="714248">
                  <a:moveTo>
                    <a:pt x="0" y="133350"/>
                  </a:moveTo>
                  <a:cubicBezTo>
                    <a:pt x="0" y="59690"/>
                    <a:pt x="59690" y="0"/>
                    <a:pt x="133350" y="0"/>
                  </a:cubicBezTo>
                  <a:lnTo>
                    <a:pt x="580898" y="0"/>
                  </a:lnTo>
                  <a:cubicBezTo>
                    <a:pt x="654558" y="0"/>
                    <a:pt x="714248" y="59690"/>
                    <a:pt x="714248" y="133350"/>
                  </a:cubicBezTo>
                  <a:lnTo>
                    <a:pt x="714248" y="580898"/>
                  </a:lnTo>
                  <a:cubicBezTo>
                    <a:pt x="714248" y="654558"/>
                    <a:pt x="654558" y="714248"/>
                    <a:pt x="580898" y="714248"/>
                  </a:cubicBezTo>
                  <a:lnTo>
                    <a:pt x="133350" y="714248"/>
                  </a:lnTo>
                  <a:cubicBezTo>
                    <a:pt x="59690" y="714121"/>
                    <a:pt x="0" y="654431"/>
                    <a:pt x="0" y="580898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0" y="0"/>
              <a:ext cx="726948" cy="726948"/>
            </a:xfrm>
            <a:custGeom>
              <a:avLst/>
              <a:gdLst/>
              <a:ahLst/>
              <a:cxnLst/>
              <a:rect l="l" t="t" r="r" b="b"/>
              <a:pathLst>
                <a:path w="726948" h="726948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lnTo>
                    <a:pt x="587248" y="0"/>
                  </a:lnTo>
                  <a:lnTo>
                    <a:pt x="587248" y="6350"/>
                  </a:lnTo>
                  <a:lnTo>
                    <a:pt x="587248" y="0"/>
                  </a:lnTo>
                  <a:cubicBezTo>
                    <a:pt x="664337" y="0"/>
                    <a:pt x="726948" y="62484"/>
                    <a:pt x="726948" y="139700"/>
                  </a:cubicBezTo>
                  <a:lnTo>
                    <a:pt x="720598" y="139700"/>
                  </a:lnTo>
                  <a:lnTo>
                    <a:pt x="726948" y="139700"/>
                  </a:lnTo>
                  <a:lnTo>
                    <a:pt x="726948" y="587248"/>
                  </a:lnTo>
                  <a:lnTo>
                    <a:pt x="720598" y="587248"/>
                  </a:lnTo>
                  <a:lnTo>
                    <a:pt x="726948" y="587248"/>
                  </a:lnTo>
                  <a:cubicBezTo>
                    <a:pt x="726948" y="664337"/>
                    <a:pt x="664464" y="726948"/>
                    <a:pt x="587248" y="726948"/>
                  </a:cubicBezTo>
                  <a:lnTo>
                    <a:pt x="587248" y="720598"/>
                  </a:lnTo>
                  <a:lnTo>
                    <a:pt x="587248" y="726948"/>
                  </a:lnTo>
                  <a:lnTo>
                    <a:pt x="139700" y="726948"/>
                  </a:lnTo>
                  <a:lnTo>
                    <a:pt x="139700" y="720598"/>
                  </a:lnTo>
                  <a:lnTo>
                    <a:pt x="139700" y="726948"/>
                  </a:lnTo>
                  <a:cubicBezTo>
                    <a:pt x="62611" y="726948"/>
                    <a:pt x="0" y="664464"/>
                    <a:pt x="0" y="587248"/>
                  </a:cubicBezTo>
                  <a:lnTo>
                    <a:pt x="0" y="139700"/>
                  </a:lnTo>
                  <a:lnTo>
                    <a:pt x="6350" y="139700"/>
                  </a:lnTo>
                  <a:lnTo>
                    <a:pt x="0" y="139700"/>
                  </a:lnTo>
                  <a:moveTo>
                    <a:pt x="12700" y="139700"/>
                  </a:moveTo>
                  <a:lnTo>
                    <a:pt x="12700" y="587248"/>
                  </a:lnTo>
                  <a:lnTo>
                    <a:pt x="6350" y="587248"/>
                  </a:lnTo>
                  <a:lnTo>
                    <a:pt x="12700" y="587248"/>
                  </a:lnTo>
                  <a:cubicBezTo>
                    <a:pt x="12700" y="657352"/>
                    <a:pt x="69596" y="714248"/>
                    <a:pt x="139700" y="714248"/>
                  </a:cubicBezTo>
                  <a:lnTo>
                    <a:pt x="587248" y="714248"/>
                  </a:lnTo>
                  <a:cubicBezTo>
                    <a:pt x="657352" y="714248"/>
                    <a:pt x="714248" y="657352"/>
                    <a:pt x="714248" y="587248"/>
                  </a:cubicBezTo>
                  <a:lnTo>
                    <a:pt x="714248" y="139700"/>
                  </a:lnTo>
                  <a:cubicBezTo>
                    <a:pt x="714248" y="69596"/>
                    <a:pt x="657352" y="12700"/>
                    <a:pt x="587248" y="12700"/>
                  </a:cubicBezTo>
                  <a:lnTo>
                    <a:pt x="139700" y="12700"/>
                  </a:lnTo>
                  <a:lnTo>
                    <a:pt x="139700" y="6350"/>
                  </a:lnTo>
                  <a:lnTo>
                    <a:pt x="139700" y="12700"/>
                  </a:lnTo>
                  <a:cubicBezTo>
                    <a:pt x="69596" y="12700"/>
                    <a:pt x="12700" y="69596"/>
                    <a:pt x="12700" y="13970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8965406" y="7079531"/>
            <a:ext cx="357039" cy="40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978152" y="7059514"/>
            <a:ext cx="2975670" cy="390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75"/>
              </a:lnSpc>
            </a:pPr>
            <a:r>
              <a:rPr lang="en-US" sz="2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Multi-Platform UI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33140" y="7507337"/>
            <a:ext cx="7120681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7"/>
              </a:lnSpc>
            </a:pPr>
            <a:r>
              <a:rPr lang="en-US" sz="18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Web and mobile application extensions for broader accessibility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33140" y="9164985"/>
            <a:ext cx="1662172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These time-permitting enhancements represent the natural evolution path for transforming the system into a comprehensive, enterprise-grade solution.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80157" y="593972"/>
            <a:ext cx="5572869" cy="715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Project Contribution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0157" y="1596330"/>
            <a:ext cx="11145887" cy="1440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37"/>
              </a:lnSpc>
            </a:pPr>
            <a:r>
              <a:rPr lang="en-US" sz="87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Solo Development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96071" y="4144416"/>
            <a:ext cx="2786360" cy="357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87"/>
              </a:lnSpc>
            </a:pPr>
            <a:r>
              <a:rPr lang="en-US" sz="218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System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0157" y="4569173"/>
            <a:ext cx="5102275" cy="779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0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Architecture, backend, frontend, and database schema development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216700" y="3371404"/>
            <a:ext cx="5854601" cy="5854601"/>
            <a:chOff x="0" y="0"/>
            <a:chExt cx="7806135" cy="7806135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806182" cy="7806182"/>
            </a:xfrm>
            <a:custGeom>
              <a:avLst/>
              <a:gdLst/>
              <a:ahLst/>
              <a:cxnLst/>
              <a:rect l="l" t="t" r="r" b="b"/>
              <a:pathLst>
                <a:path w="7806182" h="7806182">
                  <a:moveTo>
                    <a:pt x="0" y="0"/>
                  </a:moveTo>
                  <a:lnTo>
                    <a:pt x="7806182" y="0"/>
                  </a:lnTo>
                  <a:lnTo>
                    <a:pt x="7806182" y="7806182"/>
                  </a:lnTo>
                  <a:lnTo>
                    <a:pt x="0" y="7806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7528172" y="4682877"/>
            <a:ext cx="333524" cy="333524"/>
          </a:xfrm>
          <a:custGeom>
            <a:avLst/>
            <a:gdLst/>
            <a:ahLst/>
            <a:cxnLst/>
            <a:rect l="l" t="t" r="r" b="b"/>
            <a:pathLst>
              <a:path w="333524" h="333524">
                <a:moveTo>
                  <a:pt x="0" y="0"/>
                </a:moveTo>
                <a:lnTo>
                  <a:pt x="333524" y="0"/>
                </a:lnTo>
                <a:lnTo>
                  <a:pt x="333524" y="333524"/>
                </a:lnTo>
                <a:lnTo>
                  <a:pt x="0" y="3335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9722" b="-97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2405569" y="4144416"/>
            <a:ext cx="2786360" cy="357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Core Implementation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05569" y="4569173"/>
            <a:ext cx="5102275" cy="779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Booking workflow, billing system, and all feature modules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216700" y="3371404"/>
            <a:ext cx="5854601" cy="5854601"/>
            <a:chOff x="0" y="0"/>
            <a:chExt cx="7806135" cy="7806135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7806182" cy="7806182"/>
            </a:xfrm>
            <a:custGeom>
              <a:avLst/>
              <a:gdLst/>
              <a:ahLst/>
              <a:cxnLst/>
              <a:rect l="l" t="t" r="r" b="b"/>
              <a:pathLst>
                <a:path w="7806182" h="7806182">
                  <a:moveTo>
                    <a:pt x="0" y="0"/>
                  </a:moveTo>
                  <a:lnTo>
                    <a:pt x="7806182" y="0"/>
                  </a:lnTo>
                  <a:lnTo>
                    <a:pt x="7806182" y="7806182"/>
                  </a:lnTo>
                  <a:lnTo>
                    <a:pt x="0" y="7806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 descr="preencoded.png"/>
          <p:cNvSpPr/>
          <p:nvPr/>
        </p:nvSpPr>
        <p:spPr>
          <a:xfrm>
            <a:off x="10426005" y="4682877"/>
            <a:ext cx="333524" cy="333524"/>
          </a:xfrm>
          <a:custGeom>
            <a:avLst/>
            <a:gdLst/>
            <a:ahLst/>
            <a:cxnLst/>
            <a:rect l="l" t="t" r="r" b="b"/>
            <a:pathLst>
              <a:path w="333524" h="333524">
                <a:moveTo>
                  <a:pt x="0" y="0"/>
                </a:moveTo>
                <a:lnTo>
                  <a:pt x="333524" y="0"/>
                </a:lnTo>
                <a:lnTo>
                  <a:pt x="333524" y="333524"/>
                </a:lnTo>
                <a:lnTo>
                  <a:pt x="0" y="3335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388" r="-13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2405569" y="7417148"/>
            <a:ext cx="2786360" cy="357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Quality Assurance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05569" y="7841902"/>
            <a:ext cx="5102275" cy="423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Testing, debugging, and performance optimization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216700" y="3371404"/>
            <a:ext cx="5854601" cy="5854601"/>
            <a:chOff x="0" y="0"/>
            <a:chExt cx="7806135" cy="7806135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7806182" cy="7806182"/>
            </a:xfrm>
            <a:custGeom>
              <a:avLst/>
              <a:gdLst/>
              <a:ahLst/>
              <a:cxnLst/>
              <a:rect l="l" t="t" r="r" b="b"/>
              <a:pathLst>
                <a:path w="7806182" h="7806182">
                  <a:moveTo>
                    <a:pt x="0" y="0"/>
                  </a:moveTo>
                  <a:lnTo>
                    <a:pt x="7806182" y="0"/>
                  </a:lnTo>
                  <a:lnTo>
                    <a:pt x="7806182" y="7806182"/>
                  </a:lnTo>
                  <a:lnTo>
                    <a:pt x="0" y="7806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Freeform 22" descr="preencoded.png"/>
          <p:cNvSpPr/>
          <p:nvPr/>
        </p:nvSpPr>
        <p:spPr>
          <a:xfrm>
            <a:off x="10426005" y="7580710"/>
            <a:ext cx="333524" cy="333524"/>
          </a:xfrm>
          <a:custGeom>
            <a:avLst/>
            <a:gdLst/>
            <a:ahLst/>
            <a:cxnLst/>
            <a:rect l="l" t="t" r="r" b="b"/>
            <a:pathLst>
              <a:path w="333524" h="333524">
                <a:moveTo>
                  <a:pt x="0" y="0"/>
                </a:moveTo>
                <a:lnTo>
                  <a:pt x="333524" y="0"/>
                </a:lnTo>
                <a:lnTo>
                  <a:pt x="333524" y="333524"/>
                </a:lnTo>
                <a:lnTo>
                  <a:pt x="0" y="3335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52777" b="-527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3096071" y="7238851"/>
            <a:ext cx="2786360" cy="357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87"/>
              </a:lnSpc>
            </a:pPr>
            <a:r>
              <a:rPr lang="en-US" sz="218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Documentation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0157" y="7663606"/>
            <a:ext cx="5102275" cy="779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0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Technical documentation, reports, and presentation materials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216700" y="3371404"/>
            <a:ext cx="5854601" cy="5854601"/>
            <a:chOff x="0" y="0"/>
            <a:chExt cx="7806135" cy="7806135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7806182" cy="7806182"/>
            </a:xfrm>
            <a:custGeom>
              <a:avLst/>
              <a:gdLst/>
              <a:ahLst/>
              <a:cxnLst/>
              <a:rect l="l" t="t" r="r" b="b"/>
              <a:pathLst>
                <a:path w="7806182" h="7806182">
                  <a:moveTo>
                    <a:pt x="0" y="0"/>
                  </a:moveTo>
                  <a:lnTo>
                    <a:pt x="7806182" y="0"/>
                  </a:lnTo>
                  <a:lnTo>
                    <a:pt x="7806182" y="7806182"/>
                  </a:lnTo>
                  <a:lnTo>
                    <a:pt x="0" y="7806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 27" descr="preencoded.png"/>
          <p:cNvSpPr/>
          <p:nvPr/>
        </p:nvSpPr>
        <p:spPr>
          <a:xfrm>
            <a:off x="7528172" y="7580710"/>
            <a:ext cx="333524" cy="333524"/>
          </a:xfrm>
          <a:custGeom>
            <a:avLst/>
            <a:gdLst/>
            <a:ahLst/>
            <a:cxnLst/>
            <a:rect l="l" t="t" r="r" b="b"/>
            <a:pathLst>
              <a:path w="333524" h="333524">
                <a:moveTo>
                  <a:pt x="0" y="0"/>
                </a:moveTo>
                <a:lnTo>
                  <a:pt x="333524" y="0"/>
                </a:lnTo>
                <a:lnTo>
                  <a:pt x="333524" y="333524"/>
                </a:lnTo>
                <a:lnTo>
                  <a:pt x="0" y="3335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t="-11111" b="-1111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780157" y="9476780"/>
            <a:ext cx="16727686" cy="946994"/>
            <a:chOff x="0" y="0"/>
            <a:chExt cx="22303582" cy="126265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303612" cy="1262634"/>
            </a:xfrm>
            <a:custGeom>
              <a:avLst/>
              <a:gdLst/>
              <a:ahLst/>
              <a:cxnLst/>
              <a:rect l="l" t="t" r="r" b="b"/>
              <a:pathLst>
                <a:path w="22303612" h="1262634">
                  <a:moveTo>
                    <a:pt x="0" y="124841"/>
                  </a:moveTo>
                  <a:cubicBezTo>
                    <a:pt x="0" y="55880"/>
                    <a:pt x="55880" y="0"/>
                    <a:pt x="124841" y="0"/>
                  </a:cubicBezTo>
                  <a:lnTo>
                    <a:pt x="22178772" y="0"/>
                  </a:lnTo>
                  <a:cubicBezTo>
                    <a:pt x="22247733" y="0"/>
                    <a:pt x="22303612" y="55880"/>
                    <a:pt x="22303612" y="124841"/>
                  </a:cubicBezTo>
                  <a:lnTo>
                    <a:pt x="22303612" y="1137793"/>
                  </a:lnTo>
                  <a:cubicBezTo>
                    <a:pt x="22303612" y="1206754"/>
                    <a:pt x="22247733" y="1262634"/>
                    <a:pt x="22178772" y="1262634"/>
                  </a:cubicBezTo>
                  <a:lnTo>
                    <a:pt x="124841" y="1262634"/>
                  </a:lnTo>
                  <a:cubicBezTo>
                    <a:pt x="55880" y="1262634"/>
                    <a:pt x="0" y="1206754"/>
                    <a:pt x="0" y="1137793"/>
                  </a:cubicBezTo>
                  <a:close/>
                </a:path>
              </a:pathLst>
            </a:custGeom>
            <a:solidFill>
              <a:srgbClr val="D2D2E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2952" y="9807922"/>
            <a:ext cx="278606" cy="222796"/>
            <a:chOff x="0" y="0"/>
            <a:chExt cx="371475" cy="297062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371475" cy="297053"/>
            </a:xfrm>
            <a:custGeom>
              <a:avLst/>
              <a:gdLst/>
              <a:ahLst/>
              <a:cxnLst/>
              <a:rect l="l" t="t" r="r" b="b"/>
              <a:pathLst>
                <a:path w="371475" h="297053">
                  <a:moveTo>
                    <a:pt x="0" y="0"/>
                  </a:moveTo>
                  <a:lnTo>
                    <a:pt x="371475" y="0"/>
                  </a:lnTo>
                  <a:lnTo>
                    <a:pt x="371475" y="297053"/>
                  </a:lnTo>
                  <a:lnTo>
                    <a:pt x="0" y="297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414" r="-414" b="-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504355" y="9688562"/>
            <a:ext cx="15780692" cy="423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75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All project work completed by:</a:t>
            </a:r>
            <a:r>
              <a:rPr lang="en-US" sz="17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Hemanth Kumar Machani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599808" y="4671864"/>
            <a:ext cx="7088237" cy="914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762</Words>
  <Application>Microsoft Macintosh PowerPoint</Application>
  <PresentationFormat>Custom</PresentationFormat>
  <Paragraphs>128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Raleway Light</vt:lpstr>
      <vt:lpstr>Roboto</vt:lpstr>
      <vt:lpstr>Raleway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Student: Hemanth Kumar Machani - Y00886464 Youngstown State University</dc:title>
  <cp:lastModifiedBy>Hemanth Kumar Machani</cp:lastModifiedBy>
  <cp:revision>3</cp:revision>
  <dcterms:created xsi:type="dcterms:W3CDTF">2006-08-16T00:00:00Z</dcterms:created>
  <dcterms:modified xsi:type="dcterms:W3CDTF">2025-11-26T18:00:21Z</dcterms:modified>
  <dc:identifier>DAG50P2qtHg</dc:identifier>
</cp:coreProperties>
</file>